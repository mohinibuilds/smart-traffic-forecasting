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  <a:t>10/7/2026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Title Slide — Smart Urban Traffic Forecasting System. Developer: Mohini.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Problem Statement: Urban congestion is reactive, no prediction tools, causes emissions and economic loss.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Our Solution: 2-4 hour ahead prediction, severity classification, re-routing, Streamlit dashboard, 87600 rows of data.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Tech Stack: Python, pandas, numpy, scikit-learn, XGBoost, TensorFlow LSTM, Streamlit, Folium, joblib, GitHub.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Technical Workflow: Data Collection → Pre-processing → Feature Engineering → ML Models → Dashboard &amp; Alerts.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Feature Engineering: Lag features, rolling stats, cyclical time encoding, weather parameters.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Model Results: Random Forest R²=0.9647, XGBoost R²=0.9670 (best), LSTM for sequential patterns.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Dashboard UI Preview: Sidebar controls, KPI cards (volume, speed, rain, congestion), forecast cards, 7-day trend chart, Folium heatmap. Run: streamlit run app.py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Streamlit dashboard has 6 sections: Real-time KPIs, Forecast Cards, Trend Analysis, Heatmap, Re-routing Alerts, Feature Importance.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SDG 11 Impact: Target 11.2 Transport, 11.6 Air Quality, 11.b Resilient Cities.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Thank You slide. Developer: Mohini. GitHub: mohinibuilds. SDG 11. Best model XGBoost R2=0.9670.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Left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Right"/>
          <p:cNvSpPr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0" name="TopBar"/>
          <p:cNvSpPr txBox="1"/>
          <p:nvPr/>
        </p:nvSpPr>
        <p:spPr>
          <a:xfrm>
            <a:off x="0" y="0"/>
            <a:ext cx="12193200" cy="216000"/>
          </a:xfrm>
          <a:prstGeom prst="rect">
            <a:avLst/>
          </a:prstGeom>
          <a:solidFill>
            <a:srgbClr val="F5A623"/>
          </a:solidFill>
        </p:spPr>
        <p:txBody>
          <a:bodyPr/>
          <a:lstStyle/>
          <a:p>
            <a:endParaRPr lang="en-US">
              <a:solidFill>
                <a:srgbClr val="F5A623"/>
              </a:solidFill>
            </a:endParaRPr>
          </a:p>
        </p:txBody>
      </p:sp>
      <p:sp>
        <p:nvSpPr>
          <p:cNvPr id="100001" name="Title"/>
          <p:cNvSpPr txBox="1"/>
          <p:nvPr/>
        </p:nvSpPr>
        <p:spPr>
          <a:xfrm>
            <a:off x="1840163" y="594000"/>
            <a:ext cx="10800000" cy="1080000"/>
          </a:xfrm>
          <a:prstGeom prst="rect">
            <a:avLst/>
          </a:prstGeom>
        </p:spPr>
        <p:txBody>
          <a:bodyPr/>
          <a:lstStyle/>
          <a:p>
            <a:r>
              <a:rPr lang="en-US" sz="3600" b="1" dirty="0">
                <a:solidFill>
                  <a:srgbClr val="FFFFFF"/>
                </a:solidFill>
                <a:latin typeface="Calibri"/>
                <a:ea typeface="Calibri"/>
              </a:rPr>
              <a:t>🚦 Smart Urban Traffic </a:t>
            </a:r>
            <a:r>
              <a:rPr lang="en-US" sz="3600" b="1" dirty="0" err="1">
                <a:solidFill>
                  <a:srgbClr val="FFFFFF"/>
                </a:solidFill>
                <a:latin typeface="Calibri"/>
                <a:ea typeface="Calibri"/>
              </a:rPr>
              <a:t>Forecestion</a:t>
            </a:r>
            <a:r>
              <a:rPr lang="en-US" sz="3600" b="1" dirty="0">
                <a:solidFill>
                  <a:srgbClr val="FFFFFF"/>
                </a:solidFill>
                <a:latin typeface="Calibri"/>
                <a:ea typeface="Calibri"/>
              </a:rPr>
              <a:t> System</a:t>
            </a:r>
          </a:p>
        </p:txBody>
      </p:sp>
      <p:sp>
        <p:nvSpPr>
          <p:cNvPr id="100002" name="Subtitle"/>
          <p:cNvSpPr txBox="1"/>
          <p:nvPr/>
        </p:nvSpPr>
        <p:spPr>
          <a:xfrm>
            <a:off x="696000" y="2015999"/>
            <a:ext cx="10800000" cy="54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2000" b="0" dirty="0">
                <a:solidFill>
                  <a:srgbClr val="F5A62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Congestion &amp; Resource Demand Forecasting with ML + Deep Learning</a:t>
            </a:r>
          </a:p>
        </p:txBody>
      </p:sp>
      <p:sp>
        <p:nvSpPr>
          <p:cNvPr id="100004" name="Dev"/>
          <p:cNvSpPr txBox="1"/>
          <p:nvPr/>
        </p:nvSpPr>
        <p:spPr>
          <a:xfrm>
            <a:off x="797175" y="4356001"/>
            <a:ext cx="11532938" cy="1080001"/>
          </a:xfrm>
          <a:prstGeom prst="rect">
            <a:avLst/>
          </a:prstGeom>
        </p:spPr>
        <p:txBody>
          <a:bodyPr/>
          <a:lstStyle/>
          <a:p>
            <a:r>
              <a:rPr lang="en-US" sz="2400" b="0" dirty="0">
                <a:solidFill>
                  <a:srgbClr val="7A9CB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Developer: Mohini (@</a:t>
            </a:r>
            <a:r>
              <a:rPr lang="en-US" sz="2400" b="0" dirty="0" err="1">
                <a:solidFill>
                  <a:srgbClr val="7A9CB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mohinibuilds</a:t>
            </a:r>
            <a:r>
              <a:rPr lang="en-US" sz="2400" b="0" dirty="0">
                <a:solidFill>
                  <a:srgbClr val="7A9CB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)  |  Domain: Applied ML &amp; Predictive Analytics</a:t>
            </a:r>
          </a:p>
        </p:txBody>
      </p:sp>
      <p:sp>
        <p:nvSpPr>
          <p:cNvPr id="100005" name="BottomBar"/>
          <p:cNvSpPr txBox="1"/>
          <p:nvPr/>
        </p:nvSpPr>
        <p:spPr>
          <a:xfrm>
            <a:off x="0" y="6660000"/>
            <a:ext cx="12193200" cy="216000"/>
          </a:xfrm>
          <a:prstGeom prst="rect">
            <a:avLst/>
          </a:prstGeom>
          <a:solidFill>
            <a:srgbClr val="1A2540"/>
          </a:solidFill>
        </p:spPr>
        <p:txBody>
          <a:bodyPr/>
          <a:lstStyle/>
          <a:p>
            <a:endParaRPr lang="en-US">
              <a:solidFill>
                <a:srgbClr val="1A254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6" name="TopBar"/>
          <p:cNvSpPr txBox="1"/>
          <p:nvPr/>
        </p:nvSpPr>
        <p:spPr>
          <a:xfrm>
            <a:off x="0" y="0"/>
            <a:ext cx="12193200" cy="180000"/>
          </a:xfrm>
          <a:prstGeom prst="rect">
            <a:avLst/>
          </a:prstGeom>
          <a:solidFill>
            <a:srgbClr val="F5A623"/>
          </a:solidFill>
        </p:spPr>
        <p:txBody>
          <a:bodyPr/>
          <a:lstStyle/>
          <a:p>
            <a:endParaRPr lang="en-US">
              <a:solidFill>
                <a:srgbClr val="F5A623"/>
              </a:solidFill>
            </a:endParaRPr>
          </a:p>
        </p:txBody>
      </p:sp>
      <p:sp>
        <p:nvSpPr>
          <p:cNvPr id="100007" name="SlideNum"/>
          <p:cNvSpPr txBox="1"/>
          <p:nvPr/>
        </p:nvSpPr>
        <p:spPr>
          <a:xfrm>
            <a:off x="10800000" y="288000"/>
            <a:ext cx="1080000" cy="288000"/>
          </a:xfrm>
          <a:prstGeom prst="rect">
            <a:avLst/>
          </a:prstGeom>
        </p:spPr>
        <p:txBody>
          <a:bodyPr/>
          <a:lstStyle/>
          <a:p>
            <a:r>
              <a:rPr lang="en-US" sz="1400" b="1">
                <a:solidFill>
                  <a:srgbClr val="BBBBBB"/>
                </a:solidFill>
                <a:latin typeface="Calibri"/>
                <a:ea typeface="Calibri"/>
              </a:rPr>
              <a:t>02</a:t>
            </a:r>
          </a:p>
        </p:txBody>
      </p:sp>
      <p:sp>
        <p:nvSpPr>
          <p:cNvPr id="100008" name="Title"/>
          <p:cNvSpPr txBox="1"/>
          <p:nvPr/>
        </p:nvSpPr>
        <p:spPr>
          <a:xfrm>
            <a:off x="540000" y="360000"/>
            <a:ext cx="10080000" cy="540000"/>
          </a:xfrm>
          <a:prstGeom prst="rect">
            <a:avLst/>
          </a:prstGeom>
        </p:spPr>
        <p:txBody>
          <a:bodyPr/>
          <a:lstStyle/>
          <a:p>
            <a:r>
              <a:rPr lang="en-US" sz="3200" b="1">
                <a:solidFill>
                  <a:srgbClr val="0A0E2A"/>
                </a:solidFill>
                <a:latin typeface="Calibri"/>
                <a:ea typeface="Calibri"/>
              </a:rPr>
              <a:t>Problem Statement</a:t>
            </a:r>
          </a:p>
        </p:txBody>
      </p:sp>
      <p:sp>
        <p:nvSpPr>
          <p:cNvPr id="100009" name="Divider"/>
          <p:cNvSpPr txBox="1"/>
          <p:nvPr/>
        </p:nvSpPr>
        <p:spPr>
          <a:xfrm>
            <a:off x="540000" y="972000"/>
            <a:ext cx="1800000" cy="54000"/>
          </a:xfrm>
          <a:prstGeom prst="rect">
            <a:avLst/>
          </a:prstGeom>
          <a:solidFill>
            <a:srgbClr val="F5A623"/>
          </a:solidFill>
        </p:spPr>
        <p:txBody>
          <a:bodyPr/>
          <a:lstStyle/>
          <a:p>
            <a:endParaRPr lang="en-US">
              <a:solidFill>
                <a:srgbClr val="F5A623"/>
              </a:solidFill>
            </a:endParaRPr>
          </a:p>
        </p:txBody>
      </p:sp>
      <p:sp>
        <p:nvSpPr>
          <p:cNvPr id="100010" name="P1"/>
          <p:cNvSpPr txBox="1"/>
          <p:nvPr/>
        </p:nvSpPr>
        <p:spPr>
          <a:xfrm>
            <a:off x="540000" y="1152000"/>
            <a:ext cx="10440000" cy="396000"/>
          </a:xfrm>
          <a:prstGeom prst="rect">
            <a:avLst/>
          </a:prstGeom>
        </p:spPr>
        <p:txBody>
          <a:bodyPr/>
          <a:lstStyle/>
          <a:p>
            <a:r>
              <a:rPr lang="en-US" sz="1800" b="0">
                <a:solidFill>
                  <a:srgbClr val="222222"/>
                </a:solidFill>
                <a:latin typeface="Calibri"/>
                <a:ea typeface="Calibri"/>
              </a:rPr>
              <a:t>❌  Urban traffic congestion costs cities BILLIONS every year in lost productivity</a:t>
            </a:r>
          </a:p>
        </p:txBody>
      </p:sp>
      <p:sp>
        <p:nvSpPr>
          <p:cNvPr id="100011" name="P2"/>
          <p:cNvSpPr txBox="1"/>
          <p:nvPr/>
        </p:nvSpPr>
        <p:spPr>
          <a:xfrm>
            <a:off x="540000" y="1620000"/>
            <a:ext cx="10440000" cy="396000"/>
          </a:xfrm>
          <a:prstGeom prst="rect">
            <a:avLst/>
          </a:prstGeom>
        </p:spPr>
        <p:txBody>
          <a:bodyPr/>
          <a:lstStyle/>
          <a:p>
            <a:r>
              <a:rPr lang="en-US" sz="1800" b="0">
                <a:solidFill>
                  <a:srgbClr val="222222"/>
                </a:solidFill>
                <a:latin typeface="Calibri"/>
                <a:ea typeface="Calibri"/>
              </a:rPr>
              <a:t>❌  Traffic controllers have NO advance warning of upcoming congestion</a:t>
            </a:r>
          </a:p>
        </p:txBody>
      </p:sp>
      <p:sp>
        <p:nvSpPr>
          <p:cNvPr id="100012" name="P3"/>
          <p:cNvSpPr txBox="1"/>
          <p:nvPr/>
        </p:nvSpPr>
        <p:spPr>
          <a:xfrm>
            <a:off x="540000" y="2088000"/>
            <a:ext cx="10440000" cy="396000"/>
          </a:xfrm>
          <a:prstGeom prst="rect">
            <a:avLst/>
          </a:prstGeom>
        </p:spPr>
        <p:txBody>
          <a:bodyPr/>
          <a:lstStyle/>
          <a:p>
            <a:r>
              <a:rPr lang="en-US" sz="1800" b="0">
                <a:solidFill>
                  <a:srgbClr val="222222"/>
                </a:solidFill>
                <a:latin typeface="Calibri"/>
                <a:ea typeface="Calibri"/>
              </a:rPr>
              <a:t>❌  Excessive vehicle idling increases CO₂ and NOx greenhouse gas emissions</a:t>
            </a:r>
          </a:p>
        </p:txBody>
      </p:sp>
      <p:sp>
        <p:nvSpPr>
          <p:cNvPr id="100013" name="P4"/>
          <p:cNvSpPr txBox="1"/>
          <p:nvPr/>
        </p:nvSpPr>
        <p:spPr>
          <a:xfrm>
            <a:off x="540000" y="2556000"/>
            <a:ext cx="10440000" cy="396000"/>
          </a:xfrm>
          <a:prstGeom prst="rect">
            <a:avLst/>
          </a:prstGeom>
        </p:spPr>
        <p:txBody>
          <a:bodyPr/>
          <a:lstStyle/>
          <a:p>
            <a:r>
              <a:rPr lang="en-US" sz="1800" b="0">
                <a:solidFill>
                  <a:srgbClr val="222222"/>
                </a:solidFill>
                <a:latin typeface="Calibri"/>
                <a:ea typeface="Calibri"/>
              </a:rPr>
              <a:t>❌  Current systems are REACTIVE — they respond only AFTER congestion happens</a:t>
            </a:r>
          </a:p>
        </p:txBody>
      </p:sp>
      <p:sp>
        <p:nvSpPr>
          <p:cNvPr id="100014" name="P5"/>
          <p:cNvSpPr txBox="1"/>
          <p:nvPr/>
        </p:nvSpPr>
        <p:spPr>
          <a:xfrm>
            <a:off x="540000" y="3024000"/>
            <a:ext cx="10440000" cy="396000"/>
          </a:xfrm>
          <a:prstGeom prst="rect">
            <a:avLst/>
          </a:prstGeom>
        </p:spPr>
        <p:txBody>
          <a:bodyPr/>
          <a:lstStyle/>
          <a:p>
            <a:r>
              <a:rPr lang="en-US" sz="1800" b="0">
                <a:solidFill>
                  <a:srgbClr val="222222"/>
                </a:solidFill>
                <a:latin typeface="Calibri"/>
                <a:ea typeface="Calibri"/>
              </a:rPr>
              <a:t>❌  No data-driven tool for municipal traffic resource allocation</a:t>
            </a:r>
          </a:p>
        </p:txBody>
      </p:sp>
      <p:sp>
        <p:nvSpPr>
          <p:cNvPr id="100015" name="Footer"/>
          <p:cNvSpPr txBox="1"/>
          <p:nvPr/>
        </p:nvSpPr>
        <p:spPr>
          <a:xfrm>
            <a:off x="0" y="6660000"/>
            <a:ext cx="12193200" cy="216000"/>
          </a:xfrm>
          <a:prstGeom prst="rect">
            <a:avLst/>
          </a:prstGeom>
          <a:solidFill>
            <a:srgbClr val="0A0E2A"/>
          </a:solidFill>
        </p:spPr>
        <p:txBody>
          <a:bodyPr/>
          <a:lstStyle/>
          <a:p>
            <a:r>
              <a:rPr lang="en-US" sz="1100">
                <a:solidFill>
                  <a:srgbClr val="FFFFFF"/>
                </a:solidFill>
                <a:latin typeface="Calibri"/>
                <a:ea typeface="Calibri"/>
              </a:rPr>
              <a:t>Smart Urban Traffic Forecasting System  |  SDG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6" name="TopBar"/>
          <p:cNvSpPr txBox="1"/>
          <p:nvPr/>
        </p:nvSpPr>
        <p:spPr>
          <a:xfrm>
            <a:off x="0" y="0"/>
            <a:ext cx="12193200" cy="180000"/>
          </a:xfrm>
          <a:prstGeom prst="rect">
            <a:avLst/>
          </a:prstGeom>
          <a:solidFill>
            <a:srgbClr val="F5A623"/>
          </a:solidFill>
        </p:spPr>
        <p:txBody>
          <a:bodyPr/>
          <a:lstStyle/>
          <a:p>
            <a:endParaRPr lang="en-US">
              <a:solidFill>
                <a:srgbClr val="F5A623"/>
              </a:solidFill>
            </a:endParaRPr>
          </a:p>
        </p:txBody>
      </p:sp>
      <p:sp>
        <p:nvSpPr>
          <p:cNvPr id="100017" name="SlideNum"/>
          <p:cNvSpPr txBox="1"/>
          <p:nvPr/>
        </p:nvSpPr>
        <p:spPr>
          <a:xfrm>
            <a:off x="10800000" y="288000"/>
            <a:ext cx="1080000" cy="288000"/>
          </a:xfrm>
          <a:prstGeom prst="rect">
            <a:avLst/>
          </a:prstGeom>
        </p:spPr>
        <p:txBody>
          <a:bodyPr/>
          <a:lstStyle/>
          <a:p>
            <a:r>
              <a:rPr lang="en-US" sz="1400" b="1">
                <a:solidFill>
                  <a:srgbClr val="555555"/>
                </a:solidFill>
                <a:latin typeface="Calibri"/>
                <a:ea typeface="Calibri"/>
              </a:rPr>
              <a:t>03</a:t>
            </a:r>
          </a:p>
        </p:txBody>
      </p:sp>
      <p:sp>
        <p:nvSpPr>
          <p:cNvPr id="100018" name="Title"/>
          <p:cNvSpPr txBox="1"/>
          <p:nvPr/>
        </p:nvSpPr>
        <p:spPr>
          <a:xfrm>
            <a:off x="540000" y="360000"/>
            <a:ext cx="10080000" cy="540000"/>
          </a:xfrm>
          <a:prstGeom prst="rect">
            <a:avLst/>
          </a:prstGeom>
        </p:spPr>
        <p:txBody>
          <a:bodyPr/>
          <a:lstStyle/>
          <a:p>
            <a:r>
              <a:rPr lang="en-US" sz="3200" b="1">
                <a:solidFill>
                  <a:srgbClr val="FFFFFF"/>
                </a:solidFill>
                <a:latin typeface="Calibri"/>
                <a:ea typeface="Calibri"/>
              </a:rPr>
              <a:t>Our Solution</a:t>
            </a:r>
          </a:p>
        </p:txBody>
      </p:sp>
      <p:sp>
        <p:nvSpPr>
          <p:cNvPr id="100019" name="Divider"/>
          <p:cNvSpPr txBox="1"/>
          <p:nvPr/>
        </p:nvSpPr>
        <p:spPr>
          <a:xfrm>
            <a:off x="540000" y="972000"/>
            <a:ext cx="1800000" cy="54000"/>
          </a:xfrm>
          <a:prstGeom prst="rect">
            <a:avLst/>
          </a:prstGeom>
          <a:solidFill>
            <a:srgbClr val="F5A623"/>
          </a:solidFill>
        </p:spPr>
        <p:txBody>
          <a:bodyPr/>
          <a:lstStyle/>
          <a:p>
            <a:endParaRPr lang="en-US">
              <a:solidFill>
                <a:srgbClr val="F5A623"/>
              </a:solidFill>
            </a:endParaRPr>
          </a:p>
        </p:txBody>
      </p:sp>
      <p:sp>
        <p:nvSpPr>
          <p:cNvPr id="100020" name="S1"/>
          <p:cNvSpPr txBox="1"/>
          <p:nvPr/>
        </p:nvSpPr>
        <p:spPr>
          <a:xfrm>
            <a:off x="540000" y="1152000"/>
            <a:ext cx="10440000" cy="396000"/>
          </a:xfrm>
          <a:prstGeom prst="rect">
            <a:avLst/>
          </a:prstGeom>
        </p:spPr>
        <p:txBody>
          <a:bodyPr/>
          <a:lstStyle/>
          <a:p>
            <a:r>
              <a:rPr lang="en-US" sz="1800">
                <a:solidFill>
                  <a:srgbClr val="E0E8F0"/>
                </a:solidFill>
                <a:latin typeface="Calibri"/>
                <a:ea typeface="Calibri"/>
              </a:rPr>
              <a:t>✅  Predicts traffic volume 2 to 4 hours in advance</a:t>
            </a:r>
          </a:p>
        </p:txBody>
      </p:sp>
      <p:sp>
        <p:nvSpPr>
          <p:cNvPr id="100021" name="S2"/>
          <p:cNvSpPr txBox="1"/>
          <p:nvPr/>
        </p:nvSpPr>
        <p:spPr>
          <a:xfrm>
            <a:off x="540000" y="1620000"/>
            <a:ext cx="10440000" cy="396000"/>
          </a:xfrm>
          <a:prstGeom prst="rect">
            <a:avLst/>
          </a:prstGeom>
        </p:spPr>
        <p:txBody>
          <a:bodyPr/>
          <a:lstStyle/>
          <a:p>
            <a:r>
              <a:rPr lang="en-US" sz="1800">
                <a:solidFill>
                  <a:srgbClr val="E0E8F0"/>
                </a:solidFill>
                <a:latin typeface="Calibri"/>
                <a:ea typeface="Calibri"/>
              </a:rPr>
              <a:t>✅  Classifies congestion severity as Low, Medium, or High</a:t>
            </a:r>
          </a:p>
        </p:txBody>
      </p:sp>
      <p:sp>
        <p:nvSpPr>
          <p:cNvPr id="100022" name="S3"/>
          <p:cNvSpPr txBox="1"/>
          <p:nvPr/>
        </p:nvSpPr>
        <p:spPr>
          <a:xfrm>
            <a:off x="540000" y="2088000"/>
            <a:ext cx="10440000" cy="396000"/>
          </a:xfrm>
          <a:prstGeom prst="rect">
            <a:avLst/>
          </a:prstGeom>
        </p:spPr>
        <p:txBody>
          <a:bodyPr/>
          <a:lstStyle/>
          <a:p>
            <a:r>
              <a:rPr lang="en-US" sz="1800">
                <a:solidFill>
                  <a:srgbClr val="E0E8F0"/>
                </a:solidFill>
                <a:latin typeface="Calibri"/>
                <a:ea typeface="Calibri"/>
              </a:rPr>
              <a:t>✅  Recommends automated re-routing strategies for municipal authorities</a:t>
            </a:r>
          </a:p>
        </p:txBody>
      </p:sp>
      <p:sp>
        <p:nvSpPr>
          <p:cNvPr id="100023" name="S4"/>
          <p:cNvSpPr txBox="1"/>
          <p:nvPr/>
        </p:nvSpPr>
        <p:spPr>
          <a:xfrm>
            <a:off x="540000" y="2556000"/>
            <a:ext cx="10440000" cy="396000"/>
          </a:xfrm>
          <a:prstGeom prst="rect">
            <a:avLst/>
          </a:prstGeom>
        </p:spPr>
        <p:txBody>
          <a:bodyPr/>
          <a:lstStyle/>
          <a:p>
            <a:r>
              <a:rPr lang="en-US" sz="1800">
                <a:solidFill>
                  <a:srgbClr val="E0E8F0"/>
                </a:solidFill>
                <a:latin typeface="Calibri"/>
                <a:ea typeface="Calibri"/>
              </a:rPr>
              <a:t>✅  Interactive Streamlit dashboard with real-time alerts &amp; heatmap</a:t>
            </a:r>
          </a:p>
        </p:txBody>
      </p:sp>
      <p:sp>
        <p:nvSpPr>
          <p:cNvPr id="100024" name="S5"/>
          <p:cNvSpPr txBox="1"/>
          <p:nvPr/>
        </p:nvSpPr>
        <p:spPr>
          <a:xfrm>
            <a:off x="540000" y="3024000"/>
            <a:ext cx="10440000" cy="396000"/>
          </a:xfrm>
          <a:prstGeom prst="rect">
            <a:avLst/>
          </a:prstGeom>
        </p:spPr>
        <p:txBody>
          <a:bodyPr/>
          <a:lstStyle/>
          <a:p>
            <a:r>
              <a:rPr lang="en-US" sz="1800">
                <a:solidFill>
                  <a:srgbClr val="E0E8F0"/>
                </a:solidFill>
                <a:latin typeface="Calibri"/>
                <a:ea typeface="Calibri"/>
              </a:rPr>
              <a:t>✅  Covers 10 road segments with hourly spatial-temporal data</a:t>
            </a:r>
          </a:p>
        </p:txBody>
      </p:sp>
      <p:sp>
        <p:nvSpPr>
          <p:cNvPr id="100025" name="S6"/>
          <p:cNvSpPr txBox="1"/>
          <p:nvPr/>
        </p:nvSpPr>
        <p:spPr>
          <a:xfrm>
            <a:off x="540000" y="3492000"/>
            <a:ext cx="10440000" cy="396000"/>
          </a:xfrm>
          <a:prstGeom prst="rect">
            <a:avLst/>
          </a:prstGeom>
        </p:spPr>
        <p:txBody>
          <a:bodyPr/>
          <a:lstStyle/>
          <a:p>
            <a:r>
              <a:rPr lang="en-US" sz="1800">
                <a:solidFill>
                  <a:srgbClr val="E0E8F0"/>
                </a:solidFill>
                <a:latin typeface="Calibri"/>
                <a:ea typeface="Calibri"/>
              </a:rPr>
              <a:t>✅  Trained on 87,600 rows of traffic, speed, and weather data</a:t>
            </a:r>
          </a:p>
        </p:txBody>
      </p:sp>
      <p:sp>
        <p:nvSpPr>
          <p:cNvPr id="100026" name="Footer"/>
          <p:cNvSpPr txBox="1"/>
          <p:nvPr/>
        </p:nvSpPr>
        <p:spPr>
          <a:xfrm>
            <a:off x="0" y="6660000"/>
            <a:ext cx="12193200" cy="216000"/>
          </a:xfrm>
          <a:prstGeom prst="rect">
            <a:avLst/>
          </a:prstGeom>
          <a:solidFill>
            <a:srgbClr val="1A2540"/>
          </a:solidFill>
        </p:spPr>
        <p:txBody>
          <a:bodyPr/>
          <a:lstStyle/>
          <a:p>
            <a:r>
              <a:rPr lang="en-US" sz="1100">
                <a:solidFill>
                  <a:srgbClr val="FFFFFF"/>
                </a:solidFill>
                <a:latin typeface="Calibri"/>
                <a:ea typeface="Calibri"/>
              </a:rPr>
              <a:t>Smart Urban Traffic Forecasting System  |  SDG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27" name="TopBar"/>
          <p:cNvSpPr txBox="1"/>
          <p:nvPr/>
        </p:nvSpPr>
        <p:spPr>
          <a:xfrm>
            <a:off x="0" y="0"/>
            <a:ext cx="12193200" cy="180000"/>
          </a:xfrm>
          <a:prstGeom prst="rect">
            <a:avLst/>
          </a:prstGeom>
          <a:solidFill>
            <a:srgbClr val="F5A623"/>
          </a:solidFill>
        </p:spPr>
        <p:txBody>
          <a:bodyPr/>
          <a:lstStyle/>
          <a:p>
            <a:endParaRPr lang="en-US">
              <a:solidFill>
                <a:srgbClr val="F5A623"/>
              </a:solidFill>
            </a:endParaRPr>
          </a:p>
        </p:txBody>
      </p:sp>
      <p:sp>
        <p:nvSpPr>
          <p:cNvPr id="100028" name="Title"/>
          <p:cNvSpPr txBox="1"/>
          <p:nvPr/>
        </p:nvSpPr>
        <p:spPr>
          <a:xfrm>
            <a:off x="540000" y="360000"/>
            <a:ext cx="10080000" cy="540000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>
                <a:solidFill>
                  <a:srgbClr val="0A0E2A"/>
                </a:solidFill>
                <a:latin typeface="Calibri"/>
                <a:ea typeface="Calibri"/>
              </a:rPr>
              <a:t>Tech Stack &amp; Tools</a:t>
            </a:r>
          </a:p>
        </p:txBody>
      </p:sp>
      <p:sp>
        <p:nvSpPr>
          <p:cNvPr id="100029" name="Divider"/>
          <p:cNvSpPr txBox="1"/>
          <p:nvPr/>
        </p:nvSpPr>
        <p:spPr>
          <a:xfrm>
            <a:off x="540000" y="972000"/>
            <a:ext cx="1800000" cy="54000"/>
          </a:xfrm>
          <a:prstGeom prst="rect">
            <a:avLst/>
          </a:prstGeom>
          <a:solidFill>
            <a:srgbClr val="F5A623"/>
          </a:solidFill>
        </p:spPr>
        <p:txBody>
          <a:bodyPr/>
          <a:lstStyle/>
          <a:p>
            <a:endParaRPr lang="en-US">
              <a:solidFill>
                <a:srgbClr val="F5A623"/>
              </a:solidFill>
            </a:endParaRPr>
          </a:p>
        </p:txBody>
      </p:sp>
      <p:sp>
        <p:nvSpPr>
          <p:cNvPr id="100030" name="Box1"/>
          <p:cNvSpPr txBox="1"/>
          <p:nvPr/>
        </p:nvSpPr>
        <p:spPr>
          <a:xfrm>
            <a:off x="540000" y="1152000"/>
            <a:ext cx="2700000" cy="900000"/>
          </a:xfrm>
          <a:prstGeom prst="rect">
            <a:avLst/>
          </a:prstGeom>
          <a:solidFill>
            <a:srgbClr val="EEF2FF"/>
          </a:solidFill>
        </p:spPr>
        <p:txBody>
          <a:bodyPr/>
          <a:lstStyle/>
          <a:p>
            <a:r>
              <a:rPr lang="en-US" sz="1600" b="0">
                <a:solidFill>
                  <a:srgbClr val="0A0E2A"/>
                </a:solidFill>
                <a:latin typeface="Calibri"/>
                <a:ea typeface="Calibri"/>
              </a:rPr>
              <a:t>🐍 Language</a:t>
            </a:r>
          </a:p>
          <a:p>
            <a:r>
              <a:rPr lang="en-US" sz="1600" b="0">
                <a:solidFill>
                  <a:srgbClr val="0A0E2A"/>
                </a:solidFill>
                <a:latin typeface="Calibri"/>
                <a:ea typeface="Calibri"/>
              </a:rPr>
              <a:t>Python 3.x</a:t>
            </a:r>
          </a:p>
        </p:txBody>
      </p:sp>
      <p:sp>
        <p:nvSpPr>
          <p:cNvPr id="100031" name="Box2"/>
          <p:cNvSpPr txBox="1"/>
          <p:nvPr/>
        </p:nvSpPr>
        <p:spPr>
          <a:xfrm>
            <a:off x="3600000" y="1152000"/>
            <a:ext cx="2700000" cy="900000"/>
          </a:xfrm>
          <a:prstGeom prst="rect">
            <a:avLst/>
          </a:prstGeom>
          <a:solidFill>
            <a:srgbClr val="EEF2FF"/>
          </a:solidFill>
        </p:spPr>
        <p:txBody>
          <a:bodyPr/>
          <a:lstStyle/>
          <a:p>
            <a:r>
              <a:rPr lang="en-US" sz="1600" b="0">
                <a:solidFill>
                  <a:srgbClr val="0A0E2A"/>
                </a:solidFill>
                <a:latin typeface="Calibri"/>
                <a:ea typeface="Calibri"/>
              </a:rPr>
              <a:t>📊 Data Processing</a:t>
            </a:r>
          </a:p>
          <a:p>
            <a:r>
              <a:rPr lang="en-US" sz="1600" b="0">
                <a:solidFill>
                  <a:srgbClr val="0A0E2A"/>
                </a:solidFill>
                <a:latin typeface="Calibri"/>
                <a:ea typeface="Calibri"/>
              </a:rPr>
              <a:t>pandas  |  numpy</a:t>
            </a:r>
          </a:p>
        </p:txBody>
      </p:sp>
      <p:sp>
        <p:nvSpPr>
          <p:cNvPr id="100032" name="Box3"/>
          <p:cNvSpPr txBox="1"/>
          <p:nvPr/>
        </p:nvSpPr>
        <p:spPr>
          <a:xfrm>
            <a:off x="6660000" y="1152000"/>
            <a:ext cx="2700000" cy="900000"/>
          </a:xfrm>
          <a:prstGeom prst="rect">
            <a:avLst/>
          </a:prstGeom>
          <a:solidFill>
            <a:srgbClr val="EEF2FF"/>
          </a:solidFill>
        </p:spPr>
        <p:txBody>
          <a:bodyPr/>
          <a:lstStyle/>
          <a:p>
            <a:r>
              <a:rPr lang="en-US" sz="1600" b="0">
                <a:solidFill>
                  <a:srgbClr val="0A0E2A"/>
                </a:solidFill>
                <a:latin typeface="Calibri"/>
                <a:ea typeface="Calibri"/>
              </a:rPr>
              <a:t>🤖 Machine Learning</a:t>
            </a:r>
          </a:p>
          <a:p>
            <a:r>
              <a:rPr lang="en-US" sz="1600" b="0">
                <a:solidFill>
                  <a:srgbClr val="0A0E2A"/>
                </a:solidFill>
                <a:latin typeface="Calibri"/>
                <a:ea typeface="Calibri"/>
              </a:rPr>
              <a:t>scikit-learn  |  XGBoost</a:t>
            </a:r>
          </a:p>
          <a:p>
            <a:r>
              <a:rPr lang="en-US" sz="1600" b="0">
                <a:solidFill>
                  <a:srgbClr val="0A0E2A"/>
                </a:solidFill>
                <a:latin typeface="Calibri"/>
                <a:ea typeface="Calibri"/>
              </a:rPr>
              <a:t>Random Forest</a:t>
            </a:r>
          </a:p>
        </p:txBody>
      </p:sp>
      <p:sp>
        <p:nvSpPr>
          <p:cNvPr id="100033" name="Box4"/>
          <p:cNvSpPr txBox="1"/>
          <p:nvPr/>
        </p:nvSpPr>
        <p:spPr>
          <a:xfrm>
            <a:off x="540000" y="2340000"/>
            <a:ext cx="2700000" cy="900000"/>
          </a:xfrm>
          <a:prstGeom prst="rect">
            <a:avLst/>
          </a:prstGeom>
          <a:solidFill>
            <a:srgbClr val="FFF4E5"/>
          </a:solidFill>
        </p:spPr>
        <p:txBody>
          <a:bodyPr/>
          <a:lstStyle/>
          <a:p>
            <a:r>
              <a:rPr lang="en-US" sz="1600" b="0">
                <a:solidFill>
                  <a:srgbClr val="0A0E2A"/>
                </a:solidFill>
                <a:latin typeface="Calibri"/>
                <a:ea typeface="Calibri"/>
              </a:rPr>
              <a:t>🧠 Deep Learning</a:t>
            </a:r>
          </a:p>
          <a:p>
            <a:r>
              <a:rPr lang="en-US" sz="1600" b="0">
                <a:solidFill>
                  <a:srgbClr val="0A0E2A"/>
                </a:solidFill>
                <a:latin typeface="Calibri"/>
                <a:ea typeface="Calibri"/>
              </a:rPr>
              <a:t>TensorFlow  |  Keras LSTM</a:t>
            </a:r>
          </a:p>
        </p:txBody>
      </p:sp>
      <p:sp>
        <p:nvSpPr>
          <p:cNvPr id="100034" name="Box5"/>
          <p:cNvSpPr txBox="1"/>
          <p:nvPr/>
        </p:nvSpPr>
        <p:spPr>
          <a:xfrm>
            <a:off x="3600000" y="2340000"/>
            <a:ext cx="2700000" cy="900000"/>
          </a:xfrm>
          <a:prstGeom prst="rect">
            <a:avLst/>
          </a:prstGeom>
          <a:solidFill>
            <a:srgbClr val="FFF4E5"/>
          </a:solidFill>
        </p:spPr>
        <p:txBody>
          <a:bodyPr/>
          <a:lstStyle/>
          <a:p>
            <a:r>
              <a:rPr lang="en-US" sz="1600" b="0">
                <a:solidFill>
                  <a:srgbClr val="0A0E2A"/>
                </a:solidFill>
                <a:latin typeface="Calibri"/>
                <a:ea typeface="Calibri"/>
              </a:rPr>
              <a:t>📈 Visualization</a:t>
            </a:r>
          </a:p>
          <a:p>
            <a:r>
              <a:rPr lang="en-US" sz="1600" b="0">
                <a:solidFill>
                  <a:srgbClr val="0A0E2A"/>
                </a:solidFill>
                <a:latin typeface="Calibri"/>
                <a:ea typeface="Calibri"/>
              </a:rPr>
              <a:t>matplotlib  |  seaborn</a:t>
            </a:r>
          </a:p>
        </p:txBody>
      </p:sp>
      <p:sp>
        <p:nvSpPr>
          <p:cNvPr id="100035" name="Box6"/>
          <p:cNvSpPr txBox="1"/>
          <p:nvPr/>
        </p:nvSpPr>
        <p:spPr>
          <a:xfrm>
            <a:off x="6660000" y="2340000"/>
            <a:ext cx="2700000" cy="900000"/>
          </a:xfrm>
          <a:prstGeom prst="rect">
            <a:avLst/>
          </a:prstGeom>
          <a:solidFill>
            <a:srgbClr val="FFF4E5"/>
          </a:solidFill>
        </p:spPr>
        <p:txBody>
          <a:bodyPr/>
          <a:lstStyle/>
          <a:p>
            <a:r>
              <a:rPr lang="en-US" sz="1600" b="0">
                <a:solidFill>
                  <a:srgbClr val="0A0E2A"/>
                </a:solidFill>
                <a:latin typeface="Calibri"/>
                <a:ea typeface="Calibri"/>
              </a:rPr>
              <a:t>🗺️ Mapping</a:t>
            </a:r>
          </a:p>
          <a:p>
            <a:r>
              <a:rPr lang="en-US" sz="1600" b="0">
                <a:solidFill>
                  <a:srgbClr val="0A0E2A"/>
                </a:solidFill>
                <a:latin typeface="Calibri"/>
                <a:ea typeface="Calibri"/>
              </a:rPr>
              <a:t>Folium Heatmaps</a:t>
            </a:r>
          </a:p>
        </p:txBody>
      </p:sp>
      <p:sp>
        <p:nvSpPr>
          <p:cNvPr id="100036" name="Box7"/>
          <p:cNvSpPr txBox="1"/>
          <p:nvPr/>
        </p:nvSpPr>
        <p:spPr>
          <a:xfrm>
            <a:off x="540000" y="3528000"/>
            <a:ext cx="2700000" cy="900000"/>
          </a:xfrm>
          <a:prstGeom prst="rect">
            <a:avLst/>
          </a:prstGeom>
          <a:solidFill>
            <a:srgbClr val="E8F5E9"/>
          </a:solidFill>
        </p:spPr>
        <p:txBody>
          <a:bodyPr/>
          <a:lstStyle/>
          <a:p>
            <a:r>
              <a:rPr lang="en-US" sz="1600" b="0">
                <a:solidFill>
                  <a:srgbClr val="0A0E2A"/>
                </a:solidFill>
                <a:latin typeface="Calibri"/>
                <a:ea typeface="Calibri"/>
              </a:rPr>
              <a:t>🌐 Dashboard</a:t>
            </a:r>
          </a:p>
          <a:p>
            <a:r>
              <a:rPr lang="en-US" sz="1600" b="0">
                <a:solidFill>
                  <a:srgbClr val="0A0E2A"/>
                </a:solidFill>
                <a:latin typeface="Calibri"/>
                <a:ea typeface="Calibri"/>
              </a:rPr>
              <a:t>Streamlit</a:t>
            </a:r>
          </a:p>
        </p:txBody>
      </p:sp>
      <p:sp>
        <p:nvSpPr>
          <p:cNvPr id="100037" name="Box8"/>
          <p:cNvSpPr txBox="1"/>
          <p:nvPr/>
        </p:nvSpPr>
        <p:spPr>
          <a:xfrm>
            <a:off x="3600000" y="3528000"/>
            <a:ext cx="2700000" cy="900000"/>
          </a:xfrm>
          <a:prstGeom prst="rect">
            <a:avLst/>
          </a:prstGeom>
          <a:solidFill>
            <a:srgbClr val="E8F5E9"/>
          </a:solidFill>
        </p:spPr>
        <p:txBody>
          <a:bodyPr/>
          <a:lstStyle/>
          <a:p>
            <a:r>
              <a:rPr lang="en-US" sz="1600" b="0">
                <a:solidFill>
                  <a:srgbClr val="0A0E2A"/>
                </a:solidFill>
                <a:latin typeface="Calibri"/>
                <a:ea typeface="Calibri"/>
              </a:rPr>
              <a:t>💾 Model Saving</a:t>
            </a:r>
          </a:p>
          <a:p>
            <a:r>
              <a:rPr lang="en-US" sz="1600" b="0">
                <a:solidFill>
                  <a:srgbClr val="0A0E2A"/>
                </a:solidFill>
                <a:latin typeface="Calibri"/>
                <a:ea typeface="Calibri"/>
              </a:rPr>
              <a:t>joblib</a:t>
            </a:r>
          </a:p>
        </p:txBody>
      </p:sp>
      <p:sp>
        <p:nvSpPr>
          <p:cNvPr id="100038" name="Box9"/>
          <p:cNvSpPr txBox="1"/>
          <p:nvPr/>
        </p:nvSpPr>
        <p:spPr>
          <a:xfrm>
            <a:off x="6660000" y="3528000"/>
            <a:ext cx="2700000" cy="900000"/>
          </a:xfrm>
          <a:prstGeom prst="rect">
            <a:avLst/>
          </a:prstGeom>
          <a:solidFill>
            <a:srgbClr val="E8F5E9"/>
          </a:solidFill>
        </p:spPr>
        <p:txBody>
          <a:bodyPr/>
          <a:lstStyle/>
          <a:p>
            <a:r>
              <a:rPr lang="en-US" sz="1600" b="0">
                <a:solidFill>
                  <a:srgbClr val="0A0E2A"/>
                </a:solidFill>
                <a:latin typeface="Calibri"/>
                <a:ea typeface="Calibri"/>
              </a:rPr>
              <a:t>📂 Version Control</a:t>
            </a:r>
          </a:p>
          <a:p>
            <a:r>
              <a:rPr lang="en-US" sz="1600" b="0">
                <a:solidFill>
                  <a:srgbClr val="0A0E2A"/>
                </a:solidFill>
                <a:latin typeface="Calibri"/>
                <a:ea typeface="Calibri"/>
              </a:rPr>
              <a:t>Git + GitHub</a:t>
            </a:r>
          </a:p>
        </p:txBody>
      </p:sp>
      <p:sp>
        <p:nvSpPr>
          <p:cNvPr id="100039" name="Footer"/>
          <p:cNvSpPr txBox="1"/>
          <p:nvPr/>
        </p:nvSpPr>
        <p:spPr>
          <a:xfrm>
            <a:off x="0" y="6660000"/>
            <a:ext cx="12193200" cy="216000"/>
          </a:xfrm>
          <a:prstGeom prst="rect">
            <a:avLst/>
          </a:prstGeom>
          <a:solidFill>
            <a:srgbClr val="0A0E2A"/>
          </a:solidFill>
        </p:spPr>
        <p:txBody>
          <a:bodyPr/>
          <a:lstStyle/>
          <a:p>
            <a:r>
              <a:rPr lang="en-US" sz="1100">
                <a:solidFill>
                  <a:srgbClr val="FFFFFF"/>
                </a:solidFill>
                <a:latin typeface="Calibri"/>
                <a:ea typeface="Calibri"/>
              </a:rPr>
              <a:t>Smart Urban Traffic Forecasting System  |  SDG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40" name="TopBar"/>
          <p:cNvSpPr txBox="1"/>
          <p:nvPr/>
        </p:nvSpPr>
        <p:spPr>
          <a:xfrm>
            <a:off x="0" y="0"/>
            <a:ext cx="12193200" cy="180000"/>
          </a:xfrm>
          <a:prstGeom prst="rect">
            <a:avLst/>
          </a:prstGeom>
          <a:solidFill>
            <a:srgbClr val="F5A623"/>
          </a:solidFill>
        </p:spPr>
        <p:txBody>
          <a:bodyPr/>
          <a:lstStyle/>
          <a:p>
            <a:endParaRPr lang="en-US">
              <a:solidFill>
                <a:srgbClr val="F5A623"/>
              </a:solidFill>
            </a:endParaRPr>
          </a:p>
        </p:txBody>
      </p:sp>
      <p:sp>
        <p:nvSpPr>
          <p:cNvPr id="100041" name="Title"/>
          <p:cNvSpPr txBox="1"/>
          <p:nvPr/>
        </p:nvSpPr>
        <p:spPr>
          <a:xfrm>
            <a:off x="540000" y="360000"/>
            <a:ext cx="10080000" cy="540000"/>
          </a:xfrm>
          <a:prstGeom prst="rect">
            <a:avLst/>
          </a:prstGeom>
        </p:spPr>
        <p:txBody>
          <a:bodyPr/>
          <a:lstStyle/>
          <a:p>
            <a:r>
              <a:rPr lang="en-US" sz="3200" b="1">
                <a:solidFill>
                  <a:srgbClr val="FFFFFF"/>
                </a:solidFill>
                <a:latin typeface="Calibri"/>
                <a:ea typeface="Calibri"/>
              </a:rPr>
              <a:t>Technical Workflow</a:t>
            </a:r>
          </a:p>
        </p:txBody>
      </p:sp>
      <p:sp>
        <p:nvSpPr>
          <p:cNvPr id="100042" name="Divider"/>
          <p:cNvSpPr txBox="1"/>
          <p:nvPr/>
        </p:nvSpPr>
        <p:spPr>
          <a:xfrm>
            <a:off x="540000" y="972000"/>
            <a:ext cx="1800000" cy="54000"/>
          </a:xfrm>
          <a:prstGeom prst="rect">
            <a:avLst/>
          </a:prstGeom>
          <a:solidFill>
            <a:srgbClr val="F5A623"/>
          </a:solidFill>
        </p:spPr>
        <p:txBody>
          <a:bodyPr/>
          <a:lstStyle/>
          <a:p>
            <a:endParaRPr lang="en-US">
              <a:solidFill>
                <a:srgbClr val="F5A623"/>
              </a:solidFill>
            </a:endParaRPr>
          </a:p>
        </p:txBody>
      </p:sp>
      <p:sp>
        <p:nvSpPr>
          <p:cNvPr id="100043" name="Step1"/>
          <p:cNvSpPr txBox="1"/>
          <p:nvPr/>
        </p:nvSpPr>
        <p:spPr>
          <a:xfrm>
            <a:off x="360000" y="1260000"/>
            <a:ext cx="1980000" cy="2160000"/>
          </a:xfrm>
          <a:prstGeom prst="rect">
            <a:avLst/>
          </a:prstGeom>
          <a:solidFill>
            <a:srgbClr val="F5A623"/>
          </a:solidFill>
        </p:spPr>
        <p:txBody>
          <a:bodyPr/>
          <a:lstStyle/>
          <a:p>
            <a:r>
              <a:rPr lang="en-US" sz="1400" b="0">
                <a:solidFill>
                  <a:srgbClr val="0A0E2A"/>
                </a:solidFill>
                <a:latin typeface="Calibri"/>
                <a:ea typeface="Calibri"/>
              </a:rPr>
              <a:t>1️⃣</a:t>
            </a:r>
          </a:p>
          <a:p>
            <a:r>
              <a:rPr lang="en-US" sz="1400" b="0">
                <a:solidFill>
                  <a:srgbClr val="0A0E2A"/>
                </a:solidFill>
                <a:latin typeface="Calibri"/>
                <a:ea typeface="Calibri"/>
              </a:rPr>
              <a:t>DATA</a:t>
            </a:r>
          </a:p>
          <a:p>
            <a:r>
              <a:rPr lang="en-US" sz="1400" b="0">
                <a:solidFill>
                  <a:srgbClr val="0A0E2A"/>
                </a:solidFill>
                <a:latin typeface="Calibri"/>
                <a:ea typeface="Calibri"/>
              </a:rPr>
              <a:t>COLLECTION</a:t>
            </a:r>
          </a:p>
          <a:p>
            <a:r>
              <a:rPr lang="en-US" sz="1400" b="0">
                <a:solidFill>
                  <a:srgbClr val="0A0E2A"/>
                </a:solidFill>
                <a:latin typeface="Calibri"/>
                <a:ea typeface="Calibri"/>
              </a:rPr>
              <a:t>87,600 rows</a:t>
            </a:r>
          </a:p>
          <a:p>
            <a:r>
              <a:rPr lang="en-US" sz="1400" b="0">
                <a:solidFill>
                  <a:srgbClr val="0A0E2A"/>
                </a:solidFill>
                <a:latin typeface="Calibri"/>
                <a:ea typeface="Calibri"/>
              </a:rPr>
              <a:t>10 segments</a:t>
            </a:r>
          </a:p>
          <a:p>
            <a:r>
              <a:rPr lang="en-US" sz="1400" b="0">
                <a:solidFill>
                  <a:srgbClr val="0A0E2A"/>
                </a:solidFill>
                <a:latin typeface="Calibri"/>
                <a:ea typeface="Calibri"/>
              </a:rPr>
              <a:t>365 days</a:t>
            </a:r>
          </a:p>
        </p:txBody>
      </p:sp>
      <p:sp>
        <p:nvSpPr>
          <p:cNvPr id="100044" name="Arr1"/>
          <p:cNvSpPr txBox="1"/>
          <p:nvPr/>
        </p:nvSpPr>
        <p:spPr>
          <a:xfrm>
            <a:off x="2520000" y="2088000"/>
            <a:ext cx="540000" cy="54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F5A623"/>
                </a:solidFill>
                <a:latin typeface="Calibri"/>
                <a:ea typeface="Calibri"/>
              </a:rPr>
              <a:t>→</a:t>
            </a:r>
          </a:p>
        </p:txBody>
      </p:sp>
      <p:sp>
        <p:nvSpPr>
          <p:cNvPr id="100045" name="Step2"/>
          <p:cNvSpPr txBox="1"/>
          <p:nvPr/>
        </p:nvSpPr>
        <p:spPr>
          <a:xfrm>
            <a:off x="3168000" y="1260000"/>
            <a:ext cx="1980000" cy="2160000"/>
          </a:xfrm>
          <a:prstGeom prst="rect">
            <a:avLst/>
          </a:prstGeom>
          <a:solidFill>
            <a:srgbClr val="1A3A6A"/>
          </a:solidFill>
        </p:spPr>
        <p:txBody>
          <a:bodyPr/>
          <a:lstStyle/>
          <a:p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2️⃣</a:t>
            </a:r>
          </a:p>
          <a:p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PRE-</a:t>
            </a:r>
          </a:p>
          <a:p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PROCESSING</a:t>
            </a:r>
          </a:p>
          <a:p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Interpolation</a:t>
            </a:r>
          </a:p>
          <a:p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Cyclical Enc.</a:t>
            </a:r>
          </a:p>
          <a:p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Scaling</a:t>
            </a:r>
          </a:p>
        </p:txBody>
      </p:sp>
      <p:sp>
        <p:nvSpPr>
          <p:cNvPr id="100046" name="Arr2"/>
          <p:cNvSpPr txBox="1"/>
          <p:nvPr/>
        </p:nvSpPr>
        <p:spPr>
          <a:xfrm>
            <a:off x="5328000" y="2088000"/>
            <a:ext cx="540000" cy="54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F5A623"/>
                </a:solidFill>
                <a:latin typeface="Calibri"/>
                <a:ea typeface="Calibri"/>
              </a:rPr>
              <a:t>→</a:t>
            </a:r>
          </a:p>
        </p:txBody>
      </p:sp>
      <p:sp>
        <p:nvSpPr>
          <p:cNvPr id="100047" name="Step3"/>
          <p:cNvSpPr txBox="1"/>
          <p:nvPr/>
        </p:nvSpPr>
        <p:spPr>
          <a:xfrm>
            <a:off x="5940000" y="1260000"/>
            <a:ext cx="1980000" cy="2160000"/>
          </a:xfrm>
          <a:prstGeom prst="rect">
            <a:avLst/>
          </a:prstGeom>
          <a:solidFill>
            <a:srgbClr val="F5A623"/>
          </a:solidFill>
        </p:spPr>
        <p:txBody>
          <a:bodyPr/>
          <a:lstStyle/>
          <a:p>
            <a:r>
              <a:rPr lang="en-US" sz="1400" b="0">
                <a:solidFill>
                  <a:srgbClr val="0A0E2A"/>
                </a:solidFill>
                <a:latin typeface="Calibri"/>
                <a:ea typeface="Calibri"/>
              </a:rPr>
              <a:t>3️⃣</a:t>
            </a:r>
          </a:p>
          <a:p>
            <a:r>
              <a:rPr lang="en-US" sz="1400" b="0">
                <a:solidFill>
                  <a:srgbClr val="0A0E2A"/>
                </a:solidFill>
                <a:latin typeface="Calibri"/>
                <a:ea typeface="Calibri"/>
              </a:rPr>
              <a:t>FEATURE</a:t>
            </a:r>
          </a:p>
          <a:p>
            <a:r>
              <a:rPr lang="en-US" sz="1400" b="0">
                <a:solidFill>
                  <a:srgbClr val="0A0E2A"/>
                </a:solidFill>
                <a:latin typeface="Calibri"/>
                <a:ea typeface="Calibri"/>
              </a:rPr>
              <a:t>ENGINEERING</a:t>
            </a:r>
          </a:p>
          <a:p>
            <a:r>
              <a:rPr lang="en-US" sz="1400" b="0">
                <a:solidFill>
                  <a:srgbClr val="0A0E2A"/>
                </a:solidFill>
                <a:latin typeface="Calibri"/>
                <a:ea typeface="Calibri"/>
              </a:rPr>
              <a:t>Lag Features</a:t>
            </a:r>
          </a:p>
          <a:p>
            <a:r>
              <a:rPr lang="en-US" sz="1400" b="0">
                <a:solidFill>
                  <a:srgbClr val="0A0E2A"/>
                </a:solidFill>
                <a:latin typeface="Calibri"/>
                <a:ea typeface="Calibri"/>
              </a:rPr>
              <a:t>Rolling Stats</a:t>
            </a:r>
          </a:p>
          <a:p>
            <a:r>
              <a:rPr lang="en-US" sz="1400" b="0">
                <a:solidFill>
                  <a:srgbClr val="0A0E2A"/>
                </a:solidFill>
                <a:latin typeface="Calibri"/>
                <a:ea typeface="Calibri"/>
              </a:rPr>
              <a:t>Weather</a:t>
            </a:r>
          </a:p>
        </p:txBody>
      </p:sp>
      <p:sp>
        <p:nvSpPr>
          <p:cNvPr id="100048" name="Arr3"/>
          <p:cNvSpPr txBox="1"/>
          <p:nvPr/>
        </p:nvSpPr>
        <p:spPr>
          <a:xfrm>
            <a:off x="8100000" y="2088000"/>
            <a:ext cx="540000" cy="54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F5A623"/>
                </a:solidFill>
                <a:latin typeface="Calibri"/>
                <a:ea typeface="Calibri"/>
              </a:rPr>
              <a:t>→</a:t>
            </a:r>
          </a:p>
        </p:txBody>
      </p:sp>
      <p:sp>
        <p:nvSpPr>
          <p:cNvPr id="100049" name="Step4"/>
          <p:cNvSpPr txBox="1"/>
          <p:nvPr/>
        </p:nvSpPr>
        <p:spPr>
          <a:xfrm>
            <a:off x="8712000" y="1260000"/>
            <a:ext cx="1980000" cy="2160000"/>
          </a:xfrm>
          <a:prstGeom prst="rect">
            <a:avLst/>
          </a:prstGeom>
          <a:solidFill>
            <a:srgbClr val="1A3A6A"/>
          </a:solidFill>
        </p:spPr>
        <p:txBody>
          <a:bodyPr/>
          <a:lstStyle/>
          <a:p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4️⃣</a:t>
            </a:r>
          </a:p>
          <a:p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ML MODELS</a:t>
            </a:r>
          </a:p>
          <a:p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Random Forest</a:t>
            </a:r>
          </a:p>
          <a:p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XGBoost</a:t>
            </a:r>
          </a:p>
          <a:p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LSTM</a:t>
            </a:r>
          </a:p>
        </p:txBody>
      </p:sp>
      <p:sp>
        <p:nvSpPr>
          <p:cNvPr id="100050" name="Arr4"/>
          <p:cNvSpPr txBox="1"/>
          <p:nvPr/>
        </p:nvSpPr>
        <p:spPr>
          <a:xfrm>
            <a:off x="10872000" y="2088000"/>
            <a:ext cx="540000" cy="54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F5A623"/>
                </a:solidFill>
                <a:latin typeface="Calibri"/>
                <a:ea typeface="Calibri"/>
              </a:rPr>
              <a:t>→</a:t>
            </a:r>
          </a:p>
        </p:txBody>
      </p:sp>
      <p:sp>
        <p:nvSpPr>
          <p:cNvPr id="100051" name="Step5"/>
          <p:cNvSpPr txBox="1"/>
          <p:nvPr/>
        </p:nvSpPr>
        <p:spPr>
          <a:xfrm>
            <a:off x="11520000" y="1260000"/>
            <a:ext cx="540000" cy="2160000"/>
          </a:xfrm>
          <a:prstGeom prst="rect">
            <a:avLst/>
          </a:prstGeom>
          <a:solidFill>
            <a:srgbClr val="F5A623"/>
          </a:solidFill>
        </p:spPr>
        <p:txBody>
          <a:bodyPr/>
          <a:lstStyle/>
          <a:p>
            <a:r>
              <a:rPr lang="en-US" sz="1000" b="0">
                <a:solidFill>
                  <a:srgbClr val="0A0E2A"/>
                </a:solidFill>
                <a:latin typeface="Calibri"/>
                <a:ea typeface="Calibri"/>
              </a:rPr>
              <a:t>5️⃣</a:t>
            </a:r>
          </a:p>
          <a:p>
            <a:r>
              <a:rPr lang="en-US" sz="1000" b="0">
                <a:solidFill>
                  <a:srgbClr val="0A0E2A"/>
                </a:solidFill>
                <a:latin typeface="Calibri"/>
                <a:ea typeface="Calibri"/>
              </a:rPr>
              <a:t>DASHBOARD</a:t>
            </a:r>
          </a:p>
          <a:p>
            <a:r>
              <a:rPr lang="en-US" sz="1000" b="0">
                <a:solidFill>
                  <a:srgbClr val="0A0E2A"/>
                </a:solidFill>
                <a:latin typeface="Calibri"/>
                <a:ea typeface="Calibri"/>
              </a:rPr>
              <a:t>&amp; ALERTS</a:t>
            </a:r>
          </a:p>
          <a:p>
            <a:r>
              <a:rPr lang="en-US" sz="1000" b="0">
                <a:solidFill>
                  <a:srgbClr val="0A0E2A"/>
                </a:solidFill>
                <a:latin typeface="Calibri"/>
                <a:ea typeface="Calibri"/>
              </a:rPr>
              <a:t>Forecasts</a:t>
            </a:r>
          </a:p>
          <a:p>
            <a:r>
              <a:rPr lang="en-US" sz="1000" b="0">
                <a:solidFill>
                  <a:srgbClr val="0A0E2A"/>
                </a:solidFill>
                <a:latin typeface="Calibri"/>
                <a:ea typeface="Calibri"/>
              </a:rPr>
              <a:t>Heatmap</a:t>
            </a:r>
          </a:p>
          <a:p>
            <a:r>
              <a:rPr lang="en-US" sz="1000" b="0">
                <a:solidFill>
                  <a:srgbClr val="0A0E2A"/>
                </a:solidFill>
                <a:latin typeface="Calibri"/>
                <a:ea typeface="Calibri"/>
              </a:rPr>
              <a:t>Re-routing</a:t>
            </a:r>
          </a:p>
        </p:txBody>
      </p:sp>
      <p:sp>
        <p:nvSpPr>
          <p:cNvPr id="100052" name="Footer"/>
          <p:cNvSpPr txBox="1"/>
          <p:nvPr/>
        </p:nvSpPr>
        <p:spPr>
          <a:xfrm>
            <a:off x="0" y="6660000"/>
            <a:ext cx="12193200" cy="216000"/>
          </a:xfrm>
          <a:prstGeom prst="rect">
            <a:avLst/>
          </a:prstGeom>
          <a:solidFill>
            <a:srgbClr val="1A2540"/>
          </a:solidFill>
        </p:spPr>
        <p:txBody>
          <a:bodyPr/>
          <a:lstStyle/>
          <a:p>
            <a:r>
              <a:rPr lang="en-US" sz="1100">
                <a:solidFill>
                  <a:srgbClr val="FFFFFF"/>
                </a:solidFill>
                <a:latin typeface="Calibri"/>
                <a:ea typeface="Calibri"/>
              </a:rPr>
              <a:t>Smart Urban Traffic Forecasting System  |  SDG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53" name="TopBar"/>
          <p:cNvSpPr txBox="1"/>
          <p:nvPr/>
        </p:nvSpPr>
        <p:spPr>
          <a:xfrm>
            <a:off x="0" y="0"/>
            <a:ext cx="12193200" cy="180000"/>
          </a:xfrm>
          <a:prstGeom prst="rect">
            <a:avLst/>
          </a:prstGeom>
          <a:solidFill>
            <a:srgbClr val="F5A623"/>
          </a:solidFill>
        </p:spPr>
        <p:txBody>
          <a:bodyPr/>
          <a:lstStyle/>
          <a:p>
            <a:endParaRPr lang="en-US">
              <a:solidFill>
                <a:srgbClr val="F5A623"/>
              </a:solidFill>
            </a:endParaRPr>
          </a:p>
        </p:txBody>
      </p:sp>
      <p:sp>
        <p:nvSpPr>
          <p:cNvPr id="100054" name="Title"/>
          <p:cNvSpPr txBox="1"/>
          <p:nvPr/>
        </p:nvSpPr>
        <p:spPr>
          <a:xfrm>
            <a:off x="540000" y="360000"/>
            <a:ext cx="10080000" cy="540000"/>
          </a:xfrm>
          <a:prstGeom prst="rect">
            <a:avLst/>
          </a:prstGeom>
        </p:spPr>
        <p:txBody>
          <a:bodyPr/>
          <a:lstStyle/>
          <a:p>
            <a:r>
              <a:rPr lang="en-US" sz="3200" b="1">
                <a:solidFill>
                  <a:srgbClr val="0A0E2A"/>
                </a:solidFill>
                <a:latin typeface="Calibri"/>
                <a:ea typeface="Calibri"/>
              </a:rPr>
              <a:t>Feature Engineering</a:t>
            </a:r>
          </a:p>
        </p:txBody>
      </p:sp>
      <p:sp>
        <p:nvSpPr>
          <p:cNvPr id="100055" name="Divider"/>
          <p:cNvSpPr txBox="1"/>
          <p:nvPr/>
        </p:nvSpPr>
        <p:spPr>
          <a:xfrm>
            <a:off x="540000" y="972000"/>
            <a:ext cx="1800000" cy="54000"/>
          </a:xfrm>
          <a:prstGeom prst="rect">
            <a:avLst/>
          </a:prstGeom>
          <a:solidFill>
            <a:srgbClr val="F5A623"/>
          </a:solidFill>
        </p:spPr>
        <p:txBody>
          <a:bodyPr/>
          <a:lstStyle/>
          <a:p>
            <a:endParaRPr lang="en-US">
              <a:solidFill>
                <a:srgbClr val="F5A623"/>
              </a:solidFill>
            </a:endParaRPr>
          </a:p>
        </p:txBody>
      </p:sp>
      <p:sp>
        <p:nvSpPr>
          <p:cNvPr id="100056" name="F1Title"/>
          <p:cNvSpPr txBox="1"/>
          <p:nvPr/>
        </p:nvSpPr>
        <p:spPr>
          <a:xfrm>
            <a:off x="540000" y="1152000"/>
            <a:ext cx="10440000" cy="324000"/>
          </a:xfrm>
          <a:prstGeom prst="rect">
            <a:avLst/>
          </a:prstGeom>
        </p:spPr>
        <p:txBody>
          <a:bodyPr/>
          <a:lstStyle/>
          <a:p>
            <a:r>
              <a:rPr lang="en-US" sz="1800" b="1">
                <a:solidFill>
                  <a:srgbClr val="0A0E2A"/>
                </a:solidFill>
                <a:latin typeface="Calibri"/>
                <a:ea typeface="Calibri"/>
              </a:rPr>
              <a:t>📌 Lag Features (Historical Patterns)</a:t>
            </a:r>
          </a:p>
        </p:txBody>
      </p:sp>
      <p:sp>
        <p:nvSpPr>
          <p:cNvPr id="100057" name="F1Body"/>
          <p:cNvSpPr txBox="1"/>
          <p:nvPr/>
        </p:nvSpPr>
        <p:spPr>
          <a:xfrm>
            <a:off x="720000" y="1512000"/>
            <a:ext cx="10080000" cy="540000"/>
          </a:xfrm>
          <a:prstGeom prst="rect">
            <a:avLst/>
          </a:prstGeom>
        </p:spPr>
        <p:txBody>
          <a:bodyPr/>
          <a:lstStyle/>
          <a:p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• Vehicle volume at t-1, t-2, t-3 hours</a:t>
            </a:r>
          </a:p>
          <a:p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• Vehicle volume at t-24 hours (same time yesterday)</a:t>
            </a:r>
          </a:p>
        </p:txBody>
      </p:sp>
      <p:sp>
        <p:nvSpPr>
          <p:cNvPr id="100058" name="F2Title"/>
          <p:cNvSpPr txBox="1"/>
          <p:nvPr/>
        </p:nvSpPr>
        <p:spPr>
          <a:xfrm>
            <a:off x="540000" y="2160000"/>
            <a:ext cx="10440000" cy="324000"/>
          </a:xfrm>
          <a:prstGeom prst="rect">
            <a:avLst/>
          </a:prstGeom>
        </p:spPr>
        <p:txBody>
          <a:bodyPr/>
          <a:lstStyle/>
          <a:p>
            <a:r>
              <a:rPr lang="en-US" sz="1800" b="1">
                <a:solidFill>
                  <a:srgbClr val="0A0E2A"/>
                </a:solidFill>
                <a:latin typeface="Calibri"/>
                <a:ea typeface="Calibri"/>
              </a:rPr>
              <a:t>📌 Rolling Window Statistics</a:t>
            </a:r>
          </a:p>
        </p:txBody>
      </p:sp>
      <p:sp>
        <p:nvSpPr>
          <p:cNvPr id="100059" name="F2Body"/>
          <p:cNvSpPr txBox="1"/>
          <p:nvPr/>
        </p:nvSpPr>
        <p:spPr>
          <a:xfrm>
            <a:off x="720000" y="2520000"/>
            <a:ext cx="10080000" cy="540000"/>
          </a:xfrm>
          <a:prstGeom prst="rect">
            <a:avLst/>
          </a:prstGeom>
        </p:spPr>
        <p:txBody>
          <a:bodyPr/>
          <a:lstStyle/>
          <a:p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• 3-hour, 6-hour, 24-hour moving average</a:t>
            </a:r>
          </a:p>
          <a:p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• 3-hour, 6-hour, 24-hour rolling standard deviation</a:t>
            </a:r>
          </a:p>
        </p:txBody>
      </p:sp>
      <p:sp>
        <p:nvSpPr>
          <p:cNvPr id="100060" name="F3Title"/>
          <p:cNvSpPr txBox="1"/>
          <p:nvPr/>
        </p:nvSpPr>
        <p:spPr>
          <a:xfrm>
            <a:off x="540000" y="3168000"/>
            <a:ext cx="10440000" cy="324000"/>
          </a:xfrm>
          <a:prstGeom prst="rect">
            <a:avLst/>
          </a:prstGeom>
        </p:spPr>
        <p:txBody>
          <a:bodyPr/>
          <a:lstStyle/>
          <a:p>
            <a:r>
              <a:rPr lang="en-US" sz="1800" b="1">
                <a:solidFill>
                  <a:srgbClr val="0A0E2A"/>
                </a:solidFill>
                <a:latin typeface="Calibri"/>
                <a:ea typeface="Calibri"/>
              </a:rPr>
              <a:t>📌 Cyclical Time Encoding (Sine / Cosine)</a:t>
            </a:r>
          </a:p>
        </p:txBody>
      </p:sp>
      <p:sp>
        <p:nvSpPr>
          <p:cNvPr id="100061" name="F3Body"/>
          <p:cNvSpPr txBox="1"/>
          <p:nvPr/>
        </p:nvSpPr>
        <p:spPr>
          <a:xfrm>
            <a:off x="720000" y="3528000"/>
            <a:ext cx="10080000" cy="360000"/>
          </a:xfrm>
          <a:prstGeom prst="rect">
            <a:avLst/>
          </a:prstGeom>
        </p:spPr>
        <p:txBody>
          <a:bodyPr/>
          <a:lstStyle/>
          <a:p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• Hour of day (period = 24)  •  Day of week (period = 7)  •  Month of year (period = 12)</a:t>
            </a:r>
          </a:p>
        </p:txBody>
      </p:sp>
      <p:sp>
        <p:nvSpPr>
          <p:cNvPr id="100062" name="F4Title"/>
          <p:cNvSpPr txBox="1"/>
          <p:nvPr/>
        </p:nvSpPr>
        <p:spPr>
          <a:xfrm>
            <a:off x="540000" y="4032000"/>
            <a:ext cx="10440000" cy="324000"/>
          </a:xfrm>
          <a:prstGeom prst="rect">
            <a:avLst/>
          </a:prstGeom>
        </p:spPr>
        <p:txBody>
          <a:bodyPr/>
          <a:lstStyle/>
          <a:p>
            <a:r>
              <a:rPr lang="en-US" sz="1800" b="1">
                <a:solidFill>
                  <a:srgbClr val="0A0E2A"/>
                </a:solidFill>
                <a:latin typeface="Calibri"/>
                <a:ea typeface="Calibri"/>
              </a:rPr>
              <a:t>📌 Weather Parameters</a:t>
            </a:r>
          </a:p>
        </p:txBody>
      </p:sp>
      <p:sp>
        <p:nvSpPr>
          <p:cNvPr id="100063" name="F4Body"/>
          <p:cNvSpPr txBox="1"/>
          <p:nvPr/>
        </p:nvSpPr>
        <p:spPr>
          <a:xfrm>
            <a:off x="720000" y="4392000"/>
            <a:ext cx="10080000" cy="360000"/>
          </a:xfrm>
          <a:prstGeom prst="rect">
            <a:avLst/>
          </a:prstGeom>
        </p:spPr>
        <p:txBody>
          <a:bodyPr/>
          <a:lstStyle/>
          <a:p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• Temperature (°C)  •  Rainfall (mm)  •  Visibility (km)  •  Is Weekend</a:t>
            </a:r>
          </a:p>
        </p:txBody>
      </p:sp>
      <p:sp>
        <p:nvSpPr>
          <p:cNvPr id="100064" name="Footer"/>
          <p:cNvSpPr txBox="1"/>
          <p:nvPr/>
        </p:nvSpPr>
        <p:spPr>
          <a:xfrm>
            <a:off x="0" y="6660000"/>
            <a:ext cx="12193200" cy="216000"/>
          </a:xfrm>
          <a:prstGeom prst="rect">
            <a:avLst/>
          </a:prstGeom>
          <a:solidFill>
            <a:srgbClr val="0A0E2A"/>
          </a:solidFill>
        </p:spPr>
        <p:txBody>
          <a:bodyPr/>
          <a:lstStyle/>
          <a:p>
            <a:r>
              <a:rPr lang="en-US" sz="1100">
                <a:solidFill>
                  <a:srgbClr val="FFFFFF"/>
                </a:solidFill>
                <a:latin typeface="Calibri"/>
                <a:ea typeface="Calibri"/>
              </a:rPr>
              <a:t>Smart Urban Traffic Forecasting System  |  SDG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65" name="TopBar"/>
          <p:cNvSpPr txBox="1"/>
          <p:nvPr/>
        </p:nvSpPr>
        <p:spPr>
          <a:xfrm>
            <a:off x="0" y="0"/>
            <a:ext cx="12193200" cy="180000"/>
          </a:xfrm>
          <a:prstGeom prst="rect">
            <a:avLst/>
          </a:prstGeom>
          <a:solidFill>
            <a:srgbClr val="F5A623"/>
          </a:solidFill>
        </p:spPr>
        <p:txBody>
          <a:bodyPr/>
          <a:lstStyle/>
          <a:p>
            <a:endParaRPr lang="en-US">
              <a:solidFill>
                <a:srgbClr val="F5A623"/>
              </a:solidFill>
            </a:endParaRPr>
          </a:p>
        </p:txBody>
      </p:sp>
      <p:sp>
        <p:nvSpPr>
          <p:cNvPr id="100066" name="Title"/>
          <p:cNvSpPr txBox="1"/>
          <p:nvPr/>
        </p:nvSpPr>
        <p:spPr>
          <a:xfrm>
            <a:off x="540000" y="360000"/>
            <a:ext cx="10080000" cy="540000"/>
          </a:xfrm>
          <a:prstGeom prst="rect">
            <a:avLst/>
          </a:prstGeom>
        </p:spPr>
        <p:txBody>
          <a:bodyPr/>
          <a:lstStyle/>
          <a:p>
            <a:r>
              <a:rPr lang="en-US" sz="3200" b="1">
                <a:solidFill>
                  <a:srgbClr val="FFFFFF"/>
                </a:solidFill>
                <a:latin typeface="Calibri"/>
                <a:ea typeface="Calibri"/>
              </a:rPr>
              <a:t>Model Architecture &amp; Results</a:t>
            </a:r>
          </a:p>
        </p:txBody>
      </p:sp>
      <p:sp>
        <p:nvSpPr>
          <p:cNvPr id="100067" name="Divider"/>
          <p:cNvSpPr txBox="1"/>
          <p:nvPr/>
        </p:nvSpPr>
        <p:spPr>
          <a:xfrm>
            <a:off x="540000" y="972000"/>
            <a:ext cx="1800000" cy="54000"/>
          </a:xfrm>
          <a:prstGeom prst="rect">
            <a:avLst/>
          </a:prstGeom>
          <a:solidFill>
            <a:srgbClr val="F5A623"/>
          </a:solidFill>
        </p:spPr>
        <p:txBody>
          <a:bodyPr/>
          <a:lstStyle/>
          <a:p>
            <a:endParaRPr lang="en-US">
              <a:solidFill>
                <a:srgbClr val="F5A623"/>
              </a:solidFill>
            </a:endParaRPr>
          </a:p>
        </p:txBody>
      </p:sp>
      <p:sp>
        <p:nvSpPr>
          <p:cNvPr id="100068" name="RF"/>
          <p:cNvSpPr txBox="1"/>
          <p:nvPr/>
        </p:nvSpPr>
        <p:spPr>
          <a:xfrm>
            <a:off x="540000" y="1152000"/>
            <a:ext cx="3420000" cy="3240000"/>
          </a:xfrm>
          <a:prstGeom prst="rect">
            <a:avLst/>
          </a:prstGeom>
          <a:solidFill>
            <a:srgbClr val="1A3A6A"/>
          </a:solidFill>
        </p:spPr>
        <p:txBody>
          <a:bodyPr/>
          <a:lstStyle/>
          <a:p>
            <a:r>
              <a:rPr lang="en-US" sz="1600" b="0">
                <a:solidFill>
                  <a:srgbClr val="FFFFFF"/>
                </a:solidFill>
                <a:latin typeface="Calibri"/>
                <a:ea typeface="Calibri"/>
              </a:rPr>
              <a:t>🌲 RANDOM FOREST</a:t>
            </a:r>
          </a:p>
          <a:p>
            <a:endParaRPr lang="en-US" sz="1600" b="0">
              <a:solidFill>
                <a:srgbClr val="FFFFFF"/>
              </a:solidFill>
              <a:latin typeface="Calibri"/>
              <a:ea typeface="Calibri"/>
            </a:endParaRPr>
          </a:p>
          <a:p>
            <a:r>
              <a:rPr lang="en-US" sz="1600" b="0">
                <a:solidFill>
                  <a:srgbClr val="FFFFFF"/>
                </a:solidFill>
                <a:latin typeface="Calibri"/>
                <a:ea typeface="Calibri"/>
              </a:rPr>
              <a:t>Type: Ensemble (200 trees)</a:t>
            </a:r>
          </a:p>
          <a:p>
            <a:r>
              <a:rPr lang="en-US" sz="1600" b="0">
                <a:solidFill>
                  <a:srgbClr val="FFFFFF"/>
                </a:solidFill>
                <a:latin typeface="Calibri"/>
                <a:ea typeface="Calibri"/>
              </a:rPr>
              <a:t>MAE: 135.39 vehicles/hr</a:t>
            </a:r>
          </a:p>
          <a:p>
            <a:r>
              <a:rPr lang="en-US" sz="1600" b="0">
                <a:solidFill>
                  <a:srgbClr val="FFFFFF"/>
                </a:solidFill>
                <a:latin typeface="Calibri"/>
                <a:ea typeface="Calibri"/>
              </a:rPr>
              <a:t>RMSE: 190.92 vehicles/hr</a:t>
            </a:r>
          </a:p>
          <a:p>
            <a:r>
              <a:rPr lang="en-US" sz="1600" b="0">
                <a:solidFill>
                  <a:srgbClr val="FFFFFF"/>
                </a:solidFill>
                <a:latin typeface="Calibri"/>
                <a:ea typeface="Calibri"/>
              </a:rPr>
              <a:t>R² Score: 0.9647</a:t>
            </a:r>
          </a:p>
          <a:p>
            <a:endParaRPr lang="en-US" sz="1600" b="0">
              <a:solidFill>
                <a:srgbClr val="FFFFFF"/>
              </a:solidFill>
              <a:latin typeface="Calibri"/>
              <a:ea typeface="Calibri"/>
            </a:endParaRPr>
          </a:p>
          <a:p>
            <a:r>
              <a:rPr lang="en-US" sz="1600" b="0">
                <a:solidFill>
                  <a:srgbClr val="FFFFFF"/>
                </a:solidFill>
                <a:latin typeface="Calibri"/>
                <a:ea typeface="Calibri"/>
              </a:rPr>
              <a:t>Best for: Short-term tabular forecasting</a:t>
            </a:r>
          </a:p>
        </p:txBody>
      </p:sp>
      <p:sp>
        <p:nvSpPr>
          <p:cNvPr id="100069" name="XGB"/>
          <p:cNvSpPr txBox="1"/>
          <p:nvPr/>
        </p:nvSpPr>
        <p:spPr>
          <a:xfrm>
            <a:off x="4320000" y="1152000"/>
            <a:ext cx="3420000" cy="3240000"/>
          </a:xfrm>
          <a:prstGeom prst="rect">
            <a:avLst/>
          </a:prstGeom>
          <a:solidFill>
            <a:srgbClr val="F5A623"/>
          </a:solidFill>
        </p:spPr>
        <p:txBody>
          <a:bodyPr/>
          <a:lstStyle/>
          <a:p>
            <a:r>
              <a:rPr lang="en-US" sz="1600" b="0">
                <a:solidFill>
                  <a:srgbClr val="0A0E2A"/>
                </a:solidFill>
                <a:latin typeface="Calibri"/>
                <a:ea typeface="Calibri"/>
              </a:rPr>
              <a:t>⚡ XGBOOST</a:t>
            </a:r>
          </a:p>
          <a:p>
            <a:endParaRPr lang="en-US" sz="1600" b="0">
              <a:solidFill>
                <a:srgbClr val="0A0E2A"/>
              </a:solidFill>
              <a:latin typeface="Calibri"/>
              <a:ea typeface="Calibri"/>
            </a:endParaRPr>
          </a:p>
          <a:p>
            <a:r>
              <a:rPr lang="en-US" sz="1600" b="0">
                <a:solidFill>
                  <a:srgbClr val="0A0E2A"/>
                </a:solidFill>
                <a:latin typeface="Calibri"/>
                <a:ea typeface="Calibri"/>
              </a:rPr>
              <a:t>Type: Gradient Boosting</a:t>
            </a:r>
          </a:p>
          <a:p>
            <a:r>
              <a:rPr lang="en-US" sz="1600" b="0">
                <a:solidFill>
                  <a:srgbClr val="0A0E2A"/>
                </a:solidFill>
                <a:latin typeface="Calibri"/>
                <a:ea typeface="Calibri"/>
              </a:rPr>
              <a:t>MAE: 134.30 vehicles/hr</a:t>
            </a:r>
          </a:p>
          <a:p>
            <a:r>
              <a:rPr lang="en-US" sz="1600" b="0">
                <a:solidFill>
                  <a:srgbClr val="0A0E2A"/>
                </a:solidFill>
                <a:latin typeface="Calibri"/>
                <a:ea typeface="Calibri"/>
              </a:rPr>
              <a:t>RMSE: 184.60 vehicles/hr</a:t>
            </a:r>
          </a:p>
          <a:p>
            <a:r>
              <a:rPr lang="en-US" sz="1600" b="0">
                <a:solidFill>
                  <a:srgbClr val="0A0E2A"/>
                </a:solidFill>
                <a:latin typeface="Calibri"/>
                <a:ea typeface="Calibri"/>
              </a:rPr>
              <a:t>R² Score: 0.9670 ✅ BEST</a:t>
            </a:r>
          </a:p>
          <a:p>
            <a:endParaRPr lang="en-US" sz="1600" b="0">
              <a:solidFill>
                <a:srgbClr val="0A0E2A"/>
              </a:solidFill>
              <a:latin typeface="Calibri"/>
              <a:ea typeface="Calibri"/>
            </a:endParaRPr>
          </a:p>
          <a:p>
            <a:r>
              <a:rPr lang="en-US" sz="1600" b="0">
                <a:solidFill>
                  <a:srgbClr val="0A0E2A"/>
                </a:solidFill>
                <a:latin typeface="Calibri"/>
                <a:ea typeface="Calibri"/>
              </a:rPr>
              <a:t>Best for: Accurate tabular forecasting</a:t>
            </a:r>
          </a:p>
        </p:txBody>
      </p:sp>
      <p:sp>
        <p:nvSpPr>
          <p:cNvPr id="100070" name="LSTM"/>
          <p:cNvSpPr txBox="1"/>
          <p:nvPr/>
        </p:nvSpPr>
        <p:spPr>
          <a:xfrm>
            <a:off x="8100000" y="1152000"/>
            <a:ext cx="3420000" cy="3240000"/>
          </a:xfrm>
          <a:prstGeom prst="rect">
            <a:avLst/>
          </a:prstGeom>
          <a:solidFill>
            <a:srgbClr val="1A3A6A"/>
          </a:solidFill>
        </p:spPr>
        <p:txBody>
          <a:bodyPr/>
          <a:lstStyle/>
          <a:p>
            <a:r>
              <a:rPr lang="en-US" sz="1600" b="0">
                <a:solidFill>
                  <a:srgbClr val="FFFFFF"/>
                </a:solidFill>
                <a:latin typeface="Calibri"/>
                <a:ea typeface="Calibri"/>
              </a:rPr>
              <a:t>🧠 LSTM NEURAL NET</a:t>
            </a:r>
          </a:p>
          <a:p>
            <a:endParaRPr lang="en-US" sz="1600" b="0">
              <a:solidFill>
                <a:srgbClr val="FFFFFF"/>
              </a:solidFill>
              <a:latin typeface="Calibri"/>
              <a:ea typeface="Calibri"/>
            </a:endParaRPr>
          </a:p>
          <a:p>
            <a:r>
              <a:rPr lang="en-US" sz="1600" b="0">
                <a:solidFill>
                  <a:srgbClr val="FFFFFF"/>
                </a:solidFill>
                <a:latin typeface="Calibri"/>
                <a:ea typeface="Calibri"/>
              </a:rPr>
              <a:t>Type: Stacked LSTM (128→64)</a:t>
            </a:r>
          </a:p>
          <a:p>
            <a:r>
              <a:rPr lang="en-US" sz="1600" b="0">
                <a:solidFill>
                  <a:srgbClr val="FFFFFF"/>
                </a:solidFill>
                <a:latin typeface="Calibri"/>
                <a:ea typeface="Calibri"/>
              </a:rPr>
              <a:t>Input: 24-hour sequences</a:t>
            </a:r>
          </a:p>
          <a:p>
            <a:r>
              <a:rPr lang="en-US" sz="1600" b="0">
                <a:solidFill>
                  <a:srgbClr val="FFFFFF"/>
                </a:solidFill>
                <a:latin typeface="Calibri"/>
                <a:ea typeface="Calibri"/>
              </a:rPr>
              <a:t>Layers: BatchNorm + Dropout</a:t>
            </a:r>
          </a:p>
          <a:p>
            <a:r>
              <a:rPr lang="en-US" sz="1600" b="0">
                <a:solidFill>
                  <a:srgbClr val="FFFFFF"/>
                </a:solidFill>
                <a:latin typeface="Calibri"/>
                <a:ea typeface="Calibri"/>
              </a:rPr>
              <a:t>Callbacks: EarlyStopping</a:t>
            </a:r>
          </a:p>
          <a:p>
            <a:endParaRPr lang="en-US" sz="1600" b="0">
              <a:solidFill>
                <a:srgbClr val="FFFFFF"/>
              </a:solidFill>
              <a:latin typeface="Calibri"/>
              <a:ea typeface="Calibri"/>
            </a:endParaRPr>
          </a:p>
          <a:p>
            <a:r>
              <a:rPr lang="en-US" sz="1600" b="0">
                <a:solidFill>
                  <a:srgbClr val="FFFFFF"/>
                </a:solidFill>
                <a:latin typeface="Calibri"/>
                <a:ea typeface="Calibri"/>
              </a:rPr>
              <a:t>Best for: Long-term sequential patterns</a:t>
            </a:r>
          </a:p>
        </p:txBody>
      </p:sp>
      <p:sp>
        <p:nvSpPr>
          <p:cNvPr id="100071" name="BestTag"/>
          <p:cNvSpPr txBox="1"/>
          <p:nvPr/>
        </p:nvSpPr>
        <p:spPr>
          <a:xfrm>
            <a:off x="2880000" y="4680000"/>
            <a:ext cx="6120000" cy="432000"/>
          </a:xfrm>
          <a:prstGeom prst="rect">
            <a:avLst/>
          </a:prstGeom>
          <a:solidFill>
            <a:srgbClr val="F5A623"/>
          </a:solidFill>
        </p:spPr>
        <p:txBody>
          <a:bodyPr/>
          <a:lstStyle/>
          <a:p>
            <a:r>
              <a:rPr lang="en-US" sz="1800" b="1">
                <a:solidFill>
                  <a:srgbClr val="0A0E2A"/>
                </a:solidFill>
                <a:latin typeface="Calibri"/>
                <a:ea typeface="Calibri"/>
              </a:rPr>
              <a:t>🏆 Best Model: XGBoost — R² = 0.9670</a:t>
            </a:r>
          </a:p>
        </p:txBody>
      </p:sp>
      <p:sp>
        <p:nvSpPr>
          <p:cNvPr id="100072" name="Footer"/>
          <p:cNvSpPr txBox="1"/>
          <p:nvPr/>
        </p:nvSpPr>
        <p:spPr>
          <a:xfrm>
            <a:off x="0" y="6660000"/>
            <a:ext cx="12193200" cy="216000"/>
          </a:xfrm>
          <a:prstGeom prst="rect">
            <a:avLst/>
          </a:prstGeom>
          <a:solidFill>
            <a:srgbClr val="1A2540"/>
          </a:solidFill>
        </p:spPr>
        <p:txBody>
          <a:bodyPr/>
          <a:lstStyle/>
          <a:p>
            <a:r>
              <a:rPr lang="en-US" sz="1100">
                <a:solidFill>
                  <a:srgbClr val="FFFFFF"/>
                </a:solidFill>
                <a:latin typeface="Calibri"/>
                <a:ea typeface="Calibri"/>
              </a:rPr>
              <a:t>Smart Urban Traffic Forecasting System  |  SDG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73" name="TopBar"/>
          <p:cNvSpPr txBox="1"/>
          <p:nvPr/>
        </p:nvSpPr>
        <p:spPr>
          <a:xfrm>
            <a:off x="0" y="0"/>
            <a:ext cx="12193200" cy="180000"/>
          </a:xfrm>
          <a:prstGeom prst="rect">
            <a:avLst/>
          </a:prstGeom>
          <a:solidFill>
            <a:srgbClr val="F5A623"/>
          </a:solidFill>
        </p:spPr>
        <p:txBody>
          <a:bodyPr/>
          <a:lstStyle/>
          <a:p>
            <a:endParaRPr lang="en-US">
              <a:solidFill>
                <a:srgbClr val="F5A623"/>
              </a:solidFill>
            </a:endParaRPr>
          </a:p>
        </p:txBody>
      </p:sp>
      <p:sp>
        <p:nvSpPr>
          <p:cNvPr id="100074" name="Title"/>
          <p:cNvSpPr txBox="1"/>
          <p:nvPr/>
        </p:nvSpPr>
        <p:spPr>
          <a:xfrm>
            <a:off x="540000" y="360000"/>
            <a:ext cx="10080000" cy="540000"/>
          </a:xfrm>
          <a:prstGeom prst="rect">
            <a:avLst/>
          </a:prstGeom>
        </p:spPr>
        <p:txBody>
          <a:bodyPr/>
          <a:lstStyle/>
          <a:p>
            <a:r>
              <a:rPr lang="en-US" sz="3200" b="1">
                <a:solidFill>
                  <a:srgbClr val="0A0E2A"/>
                </a:solidFill>
                <a:latin typeface="Calibri"/>
                <a:ea typeface="Calibri"/>
              </a:rPr>
              <a:t>Live Streamlit Dashboard — UI Preview</a:t>
            </a:r>
          </a:p>
        </p:txBody>
      </p:sp>
      <p:sp>
        <p:nvSpPr>
          <p:cNvPr id="100075" name="Divider"/>
          <p:cNvSpPr txBox="1"/>
          <p:nvPr/>
        </p:nvSpPr>
        <p:spPr>
          <a:xfrm>
            <a:off x="540000" y="972000"/>
            <a:ext cx="1800000" cy="54000"/>
          </a:xfrm>
          <a:prstGeom prst="rect">
            <a:avLst/>
          </a:prstGeom>
          <a:solidFill>
            <a:srgbClr val="F5A623"/>
          </a:solidFill>
        </p:spPr>
        <p:txBody>
          <a:bodyPr/>
          <a:lstStyle/>
          <a:p>
            <a:endParaRPr lang="en-US">
              <a:solidFill>
                <a:srgbClr val="F5A623"/>
              </a:solidFill>
            </a:endParaRPr>
          </a:p>
        </p:txBody>
      </p:sp>
      <p:sp>
        <p:nvSpPr>
          <p:cNvPr id="100076" name="Sidebar"/>
          <p:cNvSpPr txBox="1"/>
          <p:nvPr/>
        </p:nvSpPr>
        <p:spPr>
          <a:xfrm>
            <a:off x="360000" y="1152000"/>
            <a:ext cx="2160000" cy="3600000"/>
          </a:xfrm>
          <a:prstGeom prst="rect">
            <a:avLst/>
          </a:prstGeom>
          <a:solidFill>
            <a:srgbClr val="1A2540"/>
          </a:solidFill>
        </p:spPr>
        <p:txBody>
          <a:bodyPr/>
          <a:lstStyle/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⚙️ SIDEBAR</a:t>
            </a:r>
          </a:p>
          <a:p>
            <a:endParaRPr lang="en-US" sz="1300" b="0">
              <a:solidFill>
                <a:srgbClr val="FFFFFF"/>
              </a:solidFill>
              <a:latin typeface="Calibri"/>
              <a:ea typeface="Calibri"/>
            </a:endParaRP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📍 Select Segment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[Segment 1 ▼]</a:t>
            </a:r>
          </a:p>
          <a:p>
            <a:endParaRPr lang="en-US" sz="1300" b="0">
              <a:solidFill>
                <a:srgbClr val="FFFFFF"/>
              </a:solidFill>
              <a:latin typeface="Calibri"/>
              <a:ea typeface="Calibri"/>
            </a:endParaRP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🔮 Forecast Horizon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[2 hours ▼]</a:t>
            </a:r>
          </a:p>
          <a:p>
            <a:endParaRPr lang="en-US" sz="1300" b="0">
              <a:solidFill>
                <a:srgbClr val="FFFFFF"/>
              </a:solidFill>
              <a:latin typeface="Calibri"/>
              <a:ea typeface="Calibri"/>
            </a:endParaRP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🤖 Select Model</a:t>
            </a: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[XGBoost ▼]</a:t>
            </a:r>
          </a:p>
          <a:p>
            <a:endParaRPr lang="en-US" sz="1300" b="0">
              <a:solidFill>
                <a:srgbClr val="FFFFFF"/>
              </a:solidFill>
              <a:latin typeface="Calibri"/>
              <a:ea typeface="Calibri"/>
            </a:endParaRPr>
          </a:p>
          <a:p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[🚀 Run Forecast]</a:t>
            </a:r>
          </a:p>
        </p:txBody>
      </p:sp>
      <p:sp>
        <p:nvSpPr>
          <p:cNvPr id="100077" name="KPI1"/>
          <p:cNvSpPr txBox="1"/>
          <p:nvPr/>
        </p:nvSpPr>
        <p:spPr>
          <a:xfrm>
            <a:off x="2880000" y="1152000"/>
            <a:ext cx="1980000" cy="1080000"/>
          </a:xfrm>
          <a:prstGeom prst="rect">
            <a:avLst/>
          </a:prstGeom>
          <a:solidFill>
            <a:srgbClr val="0A0E2A"/>
          </a:solidFill>
        </p:spPr>
        <p:txBody>
          <a:bodyPr/>
          <a:lstStyle/>
          <a:p>
            <a:r>
              <a:rPr lang="en-US" sz="1500" b="0">
                <a:solidFill>
                  <a:srgbClr val="FFFFFF"/>
                </a:solidFill>
                <a:latin typeface="Calibri"/>
                <a:ea typeface="Calibri"/>
              </a:rPr>
              <a:t>🚗 Volume</a:t>
            </a:r>
          </a:p>
          <a:p>
            <a:r>
              <a:rPr lang="en-US" sz="1500" b="0">
                <a:solidFill>
                  <a:srgbClr val="FFFFFF"/>
                </a:solidFill>
                <a:latin typeface="Calibri"/>
                <a:ea typeface="Calibri"/>
              </a:rPr>
              <a:t>1,245</a:t>
            </a:r>
          </a:p>
          <a:p>
            <a:r>
              <a:rPr lang="en-US" sz="1500" b="0">
                <a:solidFill>
                  <a:srgbClr val="FFFFFF"/>
                </a:solidFill>
                <a:latin typeface="Calibri"/>
                <a:ea typeface="Calibri"/>
              </a:rPr>
              <a:t>vehicles/hr</a:t>
            </a:r>
          </a:p>
        </p:txBody>
      </p:sp>
      <p:sp>
        <p:nvSpPr>
          <p:cNvPr id="100078" name="KPI2"/>
          <p:cNvSpPr txBox="1"/>
          <p:nvPr/>
        </p:nvSpPr>
        <p:spPr>
          <a:xfrm>
            <a:off x="5112000" y="1152000"/>
            <a:ext cx="1980000" cy="1080000"/>
          </a:xfrm>
          <a:prstGeom prst="rect">
            <a:avLst/>
          </a:prstGeom>
          <a:solidFill>
            <a:srgbClr val="1A3A6A"/>
          </a:solidFill>
        </p:spPr>
        <p:txBody>
          <a:bodyPr/>
          <a:lstStyle/>
          <a:p>
            <a:r>
              <a:rPr lang="en-US" sz="1500" b="0">
                <a:solidFill>
                  <a:srgbClr val="FFFFFF"/>
                </a:solidFill>
                <a:latin typeface="Calibri"/>
                <a:ea typeface="Calibri"/>
              </a:rPr>
              <a:t>⚡ Speed</a:t>
            </a:r>
          </a:p>
          <a:p>
            <a:r>
              <a:rPr lang="en-US" sz="1500" b="0">
                <a:solidFill>
                  <a:srgbClr val="FFFFFF"/>
                </a:solidFill>
                <a:latin typeface="Calibri"/>
                <a:ea typeface="Calibri"/>
              </a:rPr>
              <a:t>38.5 km/h</a:t>
            </a:r>
          </a:p>
        </p:txBody>
      </p:sp>
      <p:sp>
        <p:nvSpPr>
          <p:cNvPr id="100079" name="KPI3"/>
          <p:cNvSpPr txBox="1"/>
          <p:nvPr/>
        </p:nvSpPr>
        <p:spPr>
          <a:xfrm>
            <a:off x="7344000" y="1152000"/>
            <a:ext cx="1980000" cy="1080000"/>
          </a:xfrm>
          <a:prstGeom prst="rect">
            <a:avLst/>
          </a:prstGeom>
          <a:solidFill>
            <a:srgbClr val="FFF4E5"/>
          </a:solidFill>
        </p:spPr>
        <p:txBody>
          <a:bodyPr/>
          <a:lstStyle/>
          <a:p>
            <a:r>
              <a:rPr lang="en-US" sz="1500" b="0">
                <a:solidFill>
                  <a:srgbClr val="0A0E2A"/>
                </a:solidFill>
                <a:latin typeface="Calibri"/>
                <a:ea typeface="Calibri"/>
              </a:rPr>
              <a:t>🌧️ Rain</a:t>
            </a:r>
          </a:p>
          <a:p>
            <a:r>
              <a:rPr lang="en-US" sz="1500" b="0">
                <a:solidFill>
                  <a:srgbClr val="0A0E2A"/>
                </a:solidFill>
                <a:latin typeface="Calibri"/>
                <a:ea typeface="Calibri"/>
              </a:rPr>
              <a:t>2.1 mm</a:t>
            </a:r>
          </a:p>
        </p:txBody>
      </p:sp>
      <p:sp>
        <p:nvSpPr>
          <p:cNvPr id="100080" name="KPI4"/>
          <p:cNvSpPr txBox="1"/>
          <p:nvPr/>
        </p:nvSpPr>
        <p:spPr>
          <a:xfrm>
            <a:off x="9576000" y="1152000"/>
            <a:ext cx="1980000" cy="1080000"/>
          </a:xfrm>
          <a:prstGeom prst="rect">
            <a:avLst/>
          </a:prstGeom>
          <a:solidFill>
            <a:srgbClr val="C0392B"/>
          </a:solidFill>
        </p:spPr>
        <p:txBody>
          <a:bodyPr/>
          <a:lstStyle/>
          <a:p>
            <a:r>
              <a:rPr lang="en-US" sz="1500" b="1">
                <a:solidFill>
                  <a:srgbClr val="FFFFFF"/>
                </a:solidFill>
                <a:latin typeface="Calibri"/>
                <a:ea typeface="Calibri"/>
              </a:rPr>
              <a:t>🔴 HIGH</a:t>
            </a:r>
          </a:p>
          <a:p>
            <a:r>
              <a:rPr lang="en-US" sz="1500" b="1">
                <a:solidFill>
                  <a:srgbClr val="FFFFFF"/>
                </a:solidFill>
                <a:latin typeface="Calibri"/>
                <a:ea typeface="Calibri"/>
              </a:rPr>
              <a:t>Congestion</a:t>
            </a:r>
          </a:p>
        </p:txBody>
      </p:sp>
      <p:sp>
        <p:nvSpPr>
          <p:cNvPr id="100081" name="ForecastBar"/>
          <p:cNvSpPr txBox="1"/>
          <p:nvPr/>
        </p:nvSpPr>
        <p:spPr>
          <a:xfrm>
            <a:off x="2880000" y="2520000"/>
            <a:ext cx="8640000" cy="432000"/>
          </a:xfrm>
          <a:prstGeom prst="rect">
            <a:avLst/>
          </a:prstGeom>
          <a:solidFill>
            <a:srgbClr val="0A0E2A"/>
          </a:solidFill>
        </p:spPr>
        <p:txBody>
          <a:bodyPr/>
          <a:lstStyle/>
          <a:p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📊 FORECAST  |  +1hr: 1310 🔴  |  +2hr: 1280 🔴  |  +3hr: 1190 🟡  |  +4hr: 1050 🟢</a:t>
            </a:r>
          </a:p>
        </p:txBody>
      </p:sp>
      <p:sp>
        <p:nvSpPr>
          <p:cNvPr id="100082" name="Chart"/>
          <p:cNvSpPr txBox="1"/>
          <p:nvPr/>
        </p:nvSpPr>
        <p:spPr>
          <a:xfrm>
            <a:off x="2880000" y="3060000"/>
            <a:ext cx="8640000" cy="1728000"/>
          </a:xfrm>
          <a:prstGeom prst="rect">
            <a:avLst/>
          </a:prstGeom>
          <a:solidFill>
            <a:srgbClr val="F0F4FF"/>
          </a:solidFill>
        </p:spPr>
        <p:txBody>
          <a:bodyPr/>
          <a:lstStyle/>
          <a:p>
            <a:r>
              <a:rPr lang="en-US" sz="1400" b="0">
                <a:solidFill>
                  <a:srgbClr val="222222"/>
                </a:solidFill>
                <a:latin typeface="Calibri"/>
                <a:ea typeface="Calibri"/>
              </a:rPr>
              <a:t>📈 7-Day Traffic Trend Chart</a:t>
            </a:r>
          </a:p>
          <a:p>
            <a:endParaRPr lang="en-US" sz="1400" b="0">
              <a:solidFill>
                <a:srgbClr val="222222"/>
              </a:solidFill>
              <a:latin typeface="Calibri"/>
              <a:ea typeface="Calibri"/>
            </a:endParaRPr>
          </a:p>
          <a:p>
            <a:r>
              <a:rPr lang="en-US" sz="1400" b="0">
                <a:solidFill>
                  <a:srgbClr val="222222"/>
                </a:solidFill>
                <a:latin typeface="Calibri"/>
                <a:ea typeface="Calibri"/>
              </a:rPr>
              <a:t>[Bar chart showing hourly peaks — Mon-Sun]</a:t>
            </a:r>
          </a:p>
          <a:p>
            <a:r>
              <a:rPr lang="en-US" sz="1400" b="0">
                <a:solidFill>
                  <a:srgbClr val="222222"/>
                </a:solidFill>
                <a:latin typeface="Calibri"/>
                <a:ea typeface="Calibri"/>
              </a:rPr>
              <a:t>Peak hours highlighted in red (8-10am, 5-7pm)</a:t>
            </a:r>
          </a:p>
          <a:p>
            <a:endParaRPr lang="en-US" sz="1400" b="0">
              <a:solidFill>
                <a:srgbClr val="222222"/>
              </a:solidFill>
              <a:latin typeface="Calibri"/>
              <a:ea typeface="Calibri"/>
            </a:endParaRPr>
          </a:p>
          <a:p>
            <a:r>
              <a:rPr lang="en-US" sz="1400" b="0">
                <a:solidFill>
                  <a:srgbClr val="222222"/>
                </a:solidFill>
                <a:latin typeface="Calibri"/>
                <a:ea typeface="Calibri"/>
              </a:rPr>
              <a:t>🗺️ Folium Heatmap: 10 road segments with live congestion intensity</a:t>
            </a:r>
          </a:p>
        </p:txBody>
      </p:sp>
      <p:sp>
        <p:nvSpPr>
          <p:cNvPr id="100083" name="RunURL"/>
          <p:cNvSpPr txBox="1"/>
          <p:nvPr/>
        </p:nvSpPr>
        <p:spPr>
          <a:xfrm>
            <a:off x="540000" y="5040000"/>
            <a:ext cx="10440000" cy="360000"/>
          </a:xfrm>
          <a:prstGeom prst="rect">
            <a:avLst/>
          </a:prstGeom>
          <a:solidFill>
            <a:srgbClr val="1A3A6A"/>
          </a:solidFill>
        </p:spPr>
        <p:txBody>
          <a:bodyPr/>
          <a:lstStyle/>
          <a:p>
            <a:r>
              <a:rPr lang="en-US" sz="1400" b="1" dirty="0">
                <a:solidFill>
                  <a:srgbClr val="FFFFFF"/>
                </a:solidFill>
                <a:latin typeface="Calibri"/>
                <a:ea typeface="Calibri"/>
              </a:rPr>
              <a:t>▶  </a:t>
            </a:r>
            <a:r>
              <a:rPr lang="en-US" sz="1400" b="1" dirty="0" err="1">
                <a:solidFill>
                  <a:srgbClr val="FFFFFF"/>
                </a:solidFill>
                <a:latin typeface="Calibri"/>
                <a:ea typeface="Calibri"/>
              </a:rPr>
              <a:t>streamlit</a:t>
            </a:r>
            <a:r>
              <a:rPr lang="en-US" sz="1400" b="1" dirty="0">
                <a:solidFill>
                  <a:srgbClr val="FFFFFF"/>
                </a:solidFill>
                <a:latin typeface="Calibri"/>
                <a:ea typeface="Calibri"/>
              </a:rPr>
              <a:t> run app.py  →  </a:t>
            </a:r>
            <a:r>
              <a:rPr lang="en-US" sz="1400" b="1" dirty="0">
                <a:solidFill>
                  <a:srgbClr val="FFFFFF"/>
                </a:solidFill>
                <a:ea typeface="Calibri"/>
              </a:rPr>
              <a:t>http://localhost:8503/</a:t>
            </a:r>
            <a:endParaRPr lang="en-US" sz="1400" b="1" dirty="0">
              <a:solidFill>
                <a:srgbClr val="FFFFFF"/>
              </a:solidFill>
              <a:latin typeface="Calibri"/>
              <a:ea typeface="Calibri"/>
            </a:endParaRPr>
          </a:p>
        </p:txBody>
      </p:sp>
      <p:sp>
        <p:nvSpPr>
          <p:cNvPr id="100084" name="Footer"/>
          <p:cNvSpPr txBox="1"/>
          <p:nvPr/>
        </p:nvSpPr>
        <p:spPr>
          <a:xfrm>
            <a:off x="0" y="6660000"/>
            <a:ext cx="12193200" cy="216000"/>
          </a:xfrm>
          <a:prstGeom prst="rect">
            <a:avLst/>
          </a:prstGeom>
          <a:solidFill>
            <a:srgbClr val="0A0E2A"/>
          </a:solidFill>
        </p:spPr>
        <p:txBody>
          <a:bodyPr/>
          <a:lstStyle/>
          <a:p>
            <a:r>
              <a:rPr lang="en-US" sz="1100">
                <a:solidFill>
                  <a:srgbClr val="FFFFFF"/>
                </a:solidFill>
                <a:latin typeface="Calibri"/>
                <a:ea typeface="Calibri"/>
              </a:rPr>
              <a:t>Smart Urban Traffic Forecasting System  |  SDG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85" name="TopBar"/>
          <p:cNvSpPr txBox="1"/>
          <p:nvPr/>
        </p:nvSpPr>
        <p:spPr>
          <a:xfrm>
            <a:off x="0" y="0"/>
            <a:ext cx="12193200" cy="180000"/>
          </a:xfrm>
          <a:prstGeom prst="rect">
            <a:avLst/>
          </a:prstGeom>
          <a:solidFill>
            <a:srgbClr val="F5A623"/>
          </a:solidFill>
        </p:spPr>
        <p:txBody>
          <a:bodyPr/>
          <a:lstStyle/>
          <a:p>
            <a:endParaRPr lang="en-US">
              <a:solidFill>
                <a:srgbClr val="F5A623"/>
              </a:solidFill>
            </a:endParaRPr>
          </a:p>
        </p:txBody>
      </p:sp>
      <p:sp>
        <p:nvSpPr>
          <p:cNvPr id="100086" name="Title"/>
          <p:cNvSpPr txBox="1"/>
          <p:nvPr/>
        </p:nvSpPr>
        <p:spPr>
          <a:xfrm>
            <a:off x="540000" y="360000"/>
            <a:ext cx="10080000" cy="540000"/>
          </a:xfrm>
          <a:prstGeom prst="rect">
            <a:avLst/>
          </a:prstGeom>
        </p:spPr>
        <p:txBody>
          <a:bodyPr/>
          <a:lstStyle/>
          <a:p>
            <a:r>
              <a:rPr lang="en-US" sz="3200" b="1">
                <a:solidFill>
                  <a:srgbClr val="FFFFFF"/>
                </a:solidFill>
                <a:latin typeface="Calibri"/>
                <a:ea typeface="Calibri"/>
              </a:rPr>
              <a:t>Streamlit Dashboard Features</a:t>
            </a:r>
          </a:p>
        </p:txBody>
      </p:sp>
      <p:sp>
        <p:nvSpPr>
          <p:cNvPr id="100087" name="Divider"/>
          <p:cNvSpPr txBox="1"/>
          <p:nvPr/>
        </p:nvSpPr>
        <p:spPr>
          <a:xfrm>
            <a:off x="540000" y="972000"/>
            <a:ext cx="1800000" cy="54000"/>
          </a:xfrm>
          <a:prstGeom prst="rect">
            <a:avLst/>
          </a:prstGeom>
          <a:solidFill>
            <a:srgbClr val="F5A623"/>
          </a:solidFill>
        </p:spPr>
        <p:txBody>
          <a:bodyPr/>
          <a:lstStyle/>
          <a:p>
            <a:endParaRPr lang="en-US">
              <a:solidFill>
                <a:srgbClr val="F5A623"/>
              </a:solidFill>
            </a:endParaRPr>
          </a:p>
        </p:txBody>
      </p:sp>
      <p:sp>
        <p:nvSpPr>
          <p:cNvPr id="100088" name="C1"/>
          <p:cNvSpPr txBox="1"/>
          <p:nvPr/>
        </p:nvSpPr>
        <p:spPr>
          <a:xfrm>
            <a:off x="540000" y="1152000"/>
            <a:ext cx="2520000" cy="2160000"/>
          </a:xfrm>
          <a:prstGeom prst="rect">
            <a:avLst/>
          </a:prstGeom>
          <a:solidFill>
            <a:srgbClr val="1A3A6A"/>
          </a:solidFill>
        </p:spPr>
        <p:txBody>
          <a:bodyPr/>
          <a:lstStyle/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📊 REAL-TIME KPIs</a:t>
            </a:r>
          </a:p>
          <a:p>
            <a:endParaRPr lang="en-US" sz="1400">
              <a:solidFill>
                <a:srgbClr val="FFFFFF"/>
              </a:solidFill>
              <a:latin typeface="Calibri"/>
              <a:ea typeface="Calibri"/>
            </a:endParaRP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• Current vehicle volume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• Average speed (km/h)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• Rainfall (mm)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• Congestion severity badge</a:t>
            </a:r>
          </a:p>
        </p:txBody>
      </p:sp>
      <p:sp>
        <p:nvSpPr>
          <p:cNvPr id="100089" name="C2"/>
          <p:cNvSpPr txBox="1"/>
          <p:nvPr/>
        </p:nvSpPr>
        <p:spPr>
          <a:xfrm>
            <a:off x="3420000" y="1152000"/>
            <a:ext cx="2520000" cy="2160000"/>
          </a:xfrm>
          <a:prstGeom prst="rect">
            <a:avLst/>
          </a:prstGeom>
          <a:solidFill>
            <a:srgbClr val="F5A623"/>
          </a:solidFill>
        </p:spPr>
        <p:txBody>
          <a:bodyPr/>
          <a:lstStyle/>
          <a:p>
            <a:r>
              <a:rPr lang="en-US" sz="1400">
                <a:solidFill>
                  <a:srgbClr val="0A0E2A"/>
                </a:solidFill>
                <a:latin typeface="Calibri"/>
                <a:ea typeface="Calibri"/>
              </a:rPr>
              <a:t>🔮 FORECAST CARDS</a:t>
            </a:r>
          </a:p>
          <a:p>
            <a:endParaRPr lang="en-US" sz="1400">
              <a:solidFill>
                <a:srgbClr val="0A0E2A"/>
              </a:solidFill>
              <a:latin typeface="Calibri"/>
              <a:ea typeface="Calibri"/>
            </a:endParaRPr>
          </a:p>
          <a:p>
            <a:r>
              <a:rPr lang="en-US" sz="1400">
                <a:solidFill>
                  <a:srgbClr val="0A0E2A"/>
                </a:solidFill>
                <a:latin typeface="Calibri"/>
                <a:ea typeface="Calibri"/>
              </a:rPr>
              <a:t>• +1h, +2h, +3h, +4h predictions</a:t>
            </a:r>
          </a:p>
          <a:p>
            <a:r>
              <a:rPr lang="en-US" sz="1400">
                <a:solidFill>
                  <a:srgbClr val="0A0E2A"/>
                </a:solidFill>
                <a:latin typeface="Calibri"/>
                <a:ea typeface="Calibri"/>
              </a:rPr>
              <a:t>• Colour-coded severity alerts</a:t>
            </a:r>
          </a:p>
          <a:p>
            <a:r>
              <a:rPr lang="en-US" sz="1400">
                <a:solidFill>
                  <a:srgbClr val="0A0E2A"/>
                </a:solidFill>
                <a:latin typeface="Calibri"/>
                <a:ea typeface="Calibri"/>
              </a:rPr>
              <a:t>• Bar chart visualization</a:t>
            </a:r>
          </a:p>
        </p:txBody>
      </p:sp>
      <p:sp>
        <p:nvSpPr>
          <p:cNvPr id="100090" name="C3"/>
          <p:cNvSpPr txBox="1"/>
          <p:nvPr/>
        </p:nvSpPr>
        <p:spPr>
          <a:xfrm>
            <a:off x="6300000" y="1152000"/>
            <a:ext cx="2520000" cy="2160000"/>
          </a:xfrm>
          <a:prstGeom prst="rect">
            <a:avLst/>
          </a:prstGeom>
          <a:solidFill>
            <a:srgbClr val="1A3A6A"/>
          </a:solidFill>
        </p:spPr>
        <p:txBody>
          <a:bodyPr/>
          <a:lstStyle/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📈 TREND ANALYSIS</a:t>
            </a:r>
          </a:p>
          <a:p>
            <a:endParaRPr lang="en-US" sz="1400">
              <a:solidFill>
                <a:srgbClr val="FFFFFF"/>
              </a:solidFill>
              <a:latin typeface="Calibri"/>
              <a:ea typeface="Calibri"/>
            </a:endParaRP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• Last 7-day traffic trend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• Hourly traffic profile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• Peak hour detection (red bars)</a:t>
            </a:r>
          </a:p>
        </p:txBody>
      </p:sp>
      <p:sp>
        <p:nvSpPr>
          <p:cNvPr id="100091" name="C4"/>
          <p:cNvSpPr txBox="1"/>
          <p:nvPr/>
        </p:nvSpPr>
        <p:spPr>
          <a:xfrm>
            <a:off x="540000" y="3600000"/>
            <a:ext cx="2520000" cy="1800000"/>
          </a:xfrm>
          <a:prstGeom prst="rect">
            <a:avLst/>
          </a:prstGeom>
          <a:solidFill>
            <a:srgbClr val="F5A623"/>
          </a:solidFill>
        </p:spPr>
        <p:txBody>
          <a:bodyPr/>
          <a:lstStyle/>
          <a:p>
            <a:r>
              <a:rPr lang="en-US" sz="1400">
                <a:solidFill>
                  <a:srgbClr val="0A0E2A"/>
                </a:solidFill>
                <a:latin typeface="Calibri"/>
                <a:ea typeface="Calibri"/>
              </a:rPr>
              <a:t>🗺️ CONGESTION HEATMAP</a:t>
            </a:r>
          </a:p>
          <a:p>
            <a:endParaRPr lang="en-US" sz="1400">
              <a:solidFill>
                <a:srgbClr val="0A0E2A"/>
              </a:solidFill>
              <a:latin typeface="Calibri"/>
              <a:ea typeface="Calibri"/>
            </a:endParaRPr>
          </a:p>
          <a:p>
            <a:r>
              <a:rPr lang="en-US" sz="1400">
                <a:solidFill>
                  <a:srgbClr val="0A0E2A"/>
                </a:solidFill>
                <a:latin typeface="Calibri"/>
                <a:ea typeface="Calibri"/>
              </a:rPr>
              <a:t>• Interactive Folium map</a:t>
            </a:r>
          </a:p>
          <a:p>
            <a:r>
              <a:rPr lang="en-US" sz="1400">
                <a:solidFill>
                  <a:srgbClr val="0A0E2A"/>
                </a:solidFill>
                <a:latin typeface="Calibri"/>
                <a:ea typeface="Calibri"/>
              </a:rPr>
              <a:t>• All 10 road segments</a:t>
            </a:r>
          </a:p>
          <a:p>
            <a:r>
              <a:rPr lang="en-US" sz="1400">
                <a:solidFill>
                  <a:srgbClr val="0A0E2A"/>
                </a:solidFill>
                <a:latin typeface="Calibri"/>
                <a:ea typeface="Calibri"/>
              </a:rPr>
              <a:t>• Live volume intensity</a:t>
            </a:r>
          </a:p>
        </p:txBody>
      </p:sp>
      <p:sp>
        <p:nvSpPr>
          <p:cNvPr id="100092" name="C5"/>
          <p:cNvSpPr txBox="1"/>
          <p:nvPr/>
        </p:nvSpPr>
        <p:spPr>
          <a:xfrm>
            <a:off x="3420000" y="3600000"/>
            <a:ext cx="2520000" cy="1800000"/>
          </a:xfrm>
          <a:prstGeom prst="rect">
            <a:avLst/>
          </a:prstGeom>
          <a:solidFill>
            <a:srgbClr val="1A3A6A"/>
          </a:solidFill>
        </p:spPr>
        <p:txBody>
          <a:bodyPr/>
          <a:lstStyle/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🔀 RE-ROUTING ALERTS</a:t>
            </a:r>
          </a:p>
          <a:p>
            <a:endParaRPr lang="en-US" sz="1400">
              <a:solidFill>
                <a:srgbClr val="FFFFFF"/>
              </a:solidFill>
              <a:latin typeface="Calibri"/>
              <a:ea typeface="Calibri"/>
            </a:endParaRP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• Automated recommendations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• Low / Medium / High actions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• Municipal authority alerts</a:t>
            </a:r>
          </a:p>
        </p:txBody>
      </p:sp>
      <p:sp>
        <p:nvSpPr>
          <p:cNvPr id="100093" name="C6"/>
          <p:cNvSpPr txBox="1"/>
          <p:nvPr/>
        </p:nvSpPr>
        <p:spPr>
          <a:xfrm>
            <a:off x="6300000" y="3600000"/>
            <a:ext cx="2520000" cy="1800000"/>
          </a:xfrm>
          <a:prstGeom prst="rect">
            <a:avLst/>
          </a:prstGeom>
          <a:solidFill>
            <a:srgbClr val="F5A623"/>
          </a:solidFill>
        </p:spPr>
        <p:txBody>
          <a:bodyPr/>
          <a:lstStyle/>
          <a:p>
            <a:r>
              <a:rPr lang="en-US" sz="1400">
                <a:solidFill>
                  <a:srgbClr val="0A0E2A"/>
                </a:solidFill>
                <a:latin typeface="Calibri"/>
                <a:ea typeface="Calibri"/>
              </a:rPr>
              <a:t>🏆 FEATURE IMPORTANCE</a:t>
            </a:r>
          </a:p>
          <a:p>
            <a:endParaRPr lang="en-US" sz="1400">
              <a:solidFill>
                <a:srgbClr val="0A0E2A"/>
              </a:solidFill>
              <a:latin typeface="Calibri"/>
              <a:ea typeface="Calibri"/>
            </a:endParaRPr>
          </a:p>
          <a:p>
            <a:r>
              <a:rPr lang="en-US" sz="1400">
                <a:solidFill>
                  <a:srgbClr val="0A0E2A"/>
                </a:solidFill>
                <a:latin typeface="Calibri"/>
                <a:ea typeface="Calibri"/>
              </a:rPr>
              <a:t>• XGBoost feature ranking</a:t>
            </a:r>
          </a:p>
          <a:p>
            <a:r>
              <a:rPr lang="en-US" sz="1400">
                <a:solidFill>
                  <a:srgbClr val="0A0E2A"/>
                </a:solidFill>
                <a:latin typeface="Calibri"/>
                <a:ea typeface="Calibri"/>
              </a:rPr>
              <a:t>• Top predictors visualized</a:t>
            </a:r>
          </a:p>
          <a:p>
            <a:r>
              <a:rPr lang="en-US" sz="1400">
                <a:solidFill>
                  <a:srgbClr val="0A0E2A"/>
                </a:solidFill>
                <a:latin typeface="Calibri"/>
                <a:ea typeface="Calibri"/>
              </a:rPr>
              <a:t>• Model explainability chart</a:t>
            </a:r>
          </a:p>
        </p:txBody>
      </p:sp>
      <p:sp>
        <p:nvSpPr>
          <p:cNvPr id="100094" name="Footer"/>
          <p:cNvSpPr txBox="1"/>
          <p:nvPr/>
        </p:nvSpPr>
        <p:spPr>
          <a:xfrm>
            <a:off x="0" y="6660000"/>
            <a:ext cx="12193200" cy="216000"/>
          </a:xfrm>
          <a:prstGeom prst="rect">
            <a:avLst/>
          </a:prstGeom>
          <a:solidFill>
            <a:srgbClr val="1A2540"/>
          </a:solidFill>
        </p:spPr>
        <p:txBody>
          <a:bodyPr/>
          <a:lstStyle/>
          <a:p>
            <a:r>
              <a:rPr lang="en-US" sz="1100">
                <a:solidFill>
                  <a:srgbClr val="FFFFFF"/>
                </a:solidFill>
                <a:latin typeface="Calibri"/>
                <a:ea typeface="Calibri"/>
              </a:rPr>
              <a:t>Smart Urban Traffic Forecasting System  |  SDG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95" name="TopBar"/>
          <p:cNvSpPr txBox="1"/>
          <p:nvPr/>
        </p:nvSpPr>
        <p:spPr>
          <a:xfrm>
            <a:off x="0" y="0"/>
            <a:ext cx="12193200" cy="180000"/>
          </a:xfrm>
          <a:prstGeom prst="rect">
            <a:avLst/>
          </a:prstGeom>
          <a:solidFill>
            <a:srgbClr val="F5A623"/>
          </a:solidFill>
        </p:spPr>
        <p:txBody>
          <a:bodyPr/>
          <a:lstStyle/>
          <a:p>
            <a:endParaRPr lang="en-US">
              <a:solidFill>
                <a:srgbClr val="F5A623"/>
              </a:solidFill>
            </a:endParaRPr>
          </a:p>
        </p:txBody>
      </p:sp>
      <p:sp>
        <p:nvSpPr>
          <p:cNvPr id="100096" name="Title"/>
          <p:cNvSpPr txBox="1"/>
          <p:nvPr/>
        </p:nvSpPr>
        <p:spPr>
          <a:xfrm>
            <a:off x="540000" y="360000"/>
            <a:ext cx="10080000" cy="540000"/>
          </a:xfrm>
          <a:prstGeom prst="rect">
            <a:avLst/>
          </a:prstGeom>
        </p:spPr>
        <p:txBody>
          <a:bodyPr/>
          <a:lstStyle/>
          <a:p>
            <a:r>
              <a:rPr lang="en-US" sz="3200" b="1">
                <a:solidFill>
                  <a:srgbClr val="0A0E2A"/>
                </a:solidFill>
                <a:latin typeface="Calibri"/>
                <a:ea typeface="Calibri"/>
              </a:rPr>
              <a:t>SDG 11 Impact</a:t>
            </a:r>
          </a:p>
        </p:txBody>
      </p:sp>
      <p:sp>
        <p:nvSpPr>
          <p:cNvPr id="100097" name="SDGBadge"/>
          <p:cNvSpPr txBox="1"/>
          <p:nvPr/>
        </p:nvSpPr>
        <p:spPr>
          <a:xfrm>
            <a:off x="540000" y="1008000"/>
            <a:ext cx="10440000" cy="396000"/>
          </a:xfrm>
          <a:prstGeom prst="rect">
            <a:avLst/>
          </a:prstGeom>
          <a:solidFill>
            <a:srgbClr val="0A6640"/>
          </a:solidFill>
        </p:spPr>
        <p:txBody>
          <a:bodyPr/>
          <a:lstStyle/>
          <a:p>
            <a:r>
              <a:rPr lang="en-US" sz="2000" b="1">
                <a:solidFill>
                  <a:srgbClr val="FFFFFF"/>
                </a:solidFill>
                <a:latin typeface="Calibri"/>
                <a:ea typeface="Calibri"/>
              </a:rPr>
              <a:t>🏙️ SDG 11 — Sustainable Cities &amp; Communities</a:t>
            </a:r>
          </a:p>
        </p:txBody>
      </p:sp>
      <p:sp>
        <p:nvSpPr>
          <p:cNvPr id="100098" name="T1Label"/>
          <p:cNvSpPr txBox="1"/>
          <p:nvPr/>
        </p:nvSpPr>
        <p:spPr>
          <a:xfrm>
            <a:off x="540000" y="1584000"/>
            <a:ext cx="10440000" cy="288000"/>
          </a:xfrm>
          <a:prstGeom prst="rect">
            <a:avLst/>
          </a:prstGeom>
        </p:spPr>
        <p:txBody>
          <a:bodyPr/>
          <a:lstStyle/>
          <a:p>
            <a:r>
              <a:rPr lang="en-US" sz="1700" b="1">
                <a:solidFill>
                  <a:srgbClr val="0A0E2A"/>
                </a:solidFill>
                <a:latin typeface="Calibri"/>
                <a:ea typeface="Calibri"/>
              </a:rPr>
              <a:t>🎯 Target 11.2 — Transport Systems</a:t>
            </a:r>
          </a:p>
        </p:txBody>
      </p:sp>
      <p:sp>
        <p:nvSpPr>
          <p:cNvPr id="100099" name="T1Body"/>
          <p:cNvSpPr txBox="1"/>
          <p:nvPr/>
        </p:nvSpPr>
        <p:spPr>
          <a:xfrm>
            <a:off x="720000" y="1908000"/>
            <a:ext cx="10080000" cy="540000"/>
          </a:xfrm>
          <a:prstGeom prst="rect">
            <a:avLst/>
          </a:prstGeom>
        </p:spPr>
        <p:txBody>
          <a:bodyPr/>
          <a:lstStyle/>
          <a:p>
            <a:r>
              <a:rPr lang="en-US" sz="1500">
                <a:solidFill>
                  <a:srgbClr val="333333"/>
                </a:solidFill>
                <a:latin typeface="Calibri"/>
                <a:ea typeface="Calibri"/>
              </a:rPr>
              <a:t>Provides 2-4 hour advance congestion warnings enabling proactive traffic signal control, route diversions and resource pre-positioning for municipal authorities.</a:t>
            </a:r>
          </a:p>
        </p:txBody>
      </p:sp>
      <p:sp>
        <p:nvSpPr>
          <p:cNvPr id="100100" name="T2Label"/>
          <p:cNvSpPr txBox="1"/>
          <p:nvPr/>
        </p:nvSpPr>
        <p:spPr>
          <a:xfrm>
            <a:off x="540000" y="2628000"/>
            <a:ext cx="10440000" cy="288000"/>
          </a:xfrm>
          <a:prstGeom prst="rect">
            <a:avLst/>
          </a:prstGeom>
        </p:spPr>
        <p:txBody>
          <a:bodyPr/>
          <a:lstStyle/>
          <a:p>
            <a:r>
              <a:rPr lang="en-US" sz="1700" b="1">
                <a:solidFill>
                  <a:srgbClr val="0A0E2A"/>
                </a:solidFill>
                <a:latin typeface="Calibri"/>
                <a:ea typeface="Calibri"/>
              </a:rPr>
              <a:t>🌍 Target 11.6 — Air Quality &amp; Environment</a:t>
            </a:r>
          </a:p>
        </p:txBody>
      </p:sp>
      <p:sp>
        <p:nvSpPr>
          <p:cNvPr id="100101" name="T2Body"/>
          <p:cNvSpPr txBox="1"/>
          <p:nvPr/>
        </p:nvSpPr>
        <p:spPr>
          <a:xfrm>
            <a:off x="720000" y="2952000"/>
            <a:ext cx="10080000" cy="540000"/>
          </a:xfrm>
          <a:prstGeom prst="rect">
            <a:avLst/>
          </a:prstGeom>
        </p:spPr>
        <p:txBody>
          <a:bodyPr/>
          <a:lstStyle/>
          <a:p>
            <a:r>
              <a:rPr lang="en-US" sz="1500">
                <a:solidFill>
                  <a:srgbClr val="333333"/>
                </a:solidFill>
                <a:latin typeface="Calibri"/>
                <a:ea typeface="Calibri"/>
              </a:rPr>
              <a:t>Reduces vehicle idling time at congestion hotspots, directly lowering localized CO₂, NOx and particulate matter emissions from urban traffic.</a:t>
            </a:r>
          </a:p>
        </p:txBody>
      </p:sp>
      <p:sp>
        <p:nvSpPr>
          <p:cNvPr id="100102" name="T3Label"/>
          <p:cNvSpPr txBox="1"/>
          <p:nvPr/>
        </p:nvSpPr>
        <p:spPr>
          <a:xfrm>
            <a:off x="540000" y="3672000"/>
            <a:ext cx="10440000" cy="288000"/>
          </a:xfrm>
          <a:prstGeom prst="rect">
            <a:avLst/>
          </a:prstGeom>
        </p:spPr>
        <p:txBody>
          <a:bodyPr/>
          <a:lstStyle/>
          <a:p>
            <a:r>
              <a:rPr lang="en-US" sz="1700" b="1">
                <a:solidFill>
                  <a:srgbClr val="0A0E2A"/>
                </a:solidFill>
                <a:latin typeface="Calibri"/>
                <a:ea typeface="Calibri"/>
              </a:rPr>
              <a:t>🏛️ Target 11.b — Resilient &amp; Sustainable Cities</a:t>
            </a:r>
          </a:p>
        </p:txBody>
      </p:sp>
      <p:sp>
        <p:nvSpPr>
          <p:cNvPr id="100103" name="T3Body"/>
          <p:cNvSpPr txBox="1"/>
          <p:nvPr/>
        </p:nvSpPr>
        <p:spPr>
          <a:xfrm>
            <a:off x="720000" y="3996000"/>
            <a:ext cx="10080000" cy="540000"/>
          </a:xfrm>
          <a:prstGeom prst="rect">
            <a:avLst/>
          </a:prstGeom>
        </p:spPr>
        <p:txBody>
          <a:bodyPr/>
          <a:lstStyle/>
          <a:p>
            <a:r>
              <a:rPr lang="en-US" sz="1500">
                <a:solidFill>
                  <a:srgbClr val="333333"/>
                </a:solidFill>
                <a:latin typeface="Calibri"/>
                <a:ea typeface="Calibri"/>
              </a:rPr>
              <a:t>Supports data-driven urban policy-making, helping cities build adaptive, intelligent transport infrastructure aligned with sustainability goals.</a:t>
            </a:r>
          </a:p>
        </p:txBody>
      </p:sp>
      <p:sp>
        <p:nvSpPr>
          <p:cNvPr id="100104" name="Footer"/>
          <p:cNvSpPr txBox="1"/>
          <p:nvPr/>
        </p:nvSpPr>
        <p:spPr>
          <a:xfrm>
            <a:off x="0" y="6660000"/>
            <a:ext cx="12193200" cy="216000"/>
          </a:xfrm>
          <a:prstGeom prst="rect">
            <a:avLst/>
          </a:prstGeom>
          <a:solidFill>
            <a:srgbClr val="0A0E2A"/>
          </a:solidFill>
        </p:spPr>
        <p:txBody>
          <a:bodyPr/>
          <a:lstStyle/>
          <a:p>
            <a:r>
              <a:rPr lang="en-US" sz="1100">
                <a:solidFill>
                  <a:srgbClr val="FFFFFF"/>
                </a:solidFill>
                <a:latin typeface="Calibri"/>
                <a:ea typeface="Calibri"/>
              </a:rPr>
              <a:t>Smart Urban Traffic Forecasting System  |  SDG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05" name="TopBar"/>
          <p:cNvSpPr txBox="1"/>
          <p:nvPr/>
        </p:nvSpPr>
        <p:spPr>
          <a:xfrm>
            <a:off x="0" y="0"/>
            <a:ext cx="12193200" cy="180000"/>
          </a:xfrm>
          <a:prstGeom prst="rect">
            <a:avLst/>
          </a:prstGeom>
          <a:solidFill>
            <a:srgbClr val="F5A623"/>
          </a:solidFill>
        </p:spPr>
        <p:txBody>
          <a:bodyPr/>
          <a:lstStyle/>
          <a:p>
            <a:endParaRPr lang="en-US">
              <a:solidFill>
                <a:srgbClr val="F5A623"/>
              </a:solidFill>
            </a:endParaRPr>
          </a:p>
        </p:txBody>
      </p:sp>
      <p:sp>
        <p:nvSpPr>
          <p:cNvPr id="100106" name="TY"/>
          <p:cNvSpPr txBox="1"/>
          <p:nvPr/>
        </p:nvSpPr>
        <p:spPr>
          <a:xfrm>
            <a:off x="540000" y="900000"/>
            <a:ext cx="10800000" cy="1080000"/>
          </a:xfrm>
          <a:prstGeom prst="rect">
            <a:avLst/>
          </a:prstGeom>
        </p:spPr>
        <p:txBody>
          <a:bodyPr/>
          <a:lstStyle/>
          <a:p>
            <a:r>
              <a:rPr lang="en-US" sz="4800" b="1">
                <a:solidFill>
                  <a:srgbClr val="F5A623"/>
                </a:solidFill>
                <a:latin typeface="Calibri"/>
                <a:ea typeface="Calibri"/>
              </a:rPr>
              <a:t>Thank You!</a:t>
            </a:r>
          </a:p>
        </p:txBody>
      </p:sp>
      <p:sp>
        <p:nvSpPr>
          <p:cNvPr id="100107" name="ProjectName"/>
          <p:cNvSpPr txBox="1"/>
          <p:nvPr/>
        </p:nvSpPr>
        <p:spPr>
          <a:xfrm>
            <a:off x="540000" y="2088000"/>
            <a:ext cx="10800000" cy="540000"/>
          </a:xfrm>
          <a:prstGeom prst="rect">
            <a:avLst/>
          </a:prstGeom>
        </p:spPr>
        <p:txBody>
          <a:bodyPr/>
          <a:lstStyle/>
          <a:p>
            <a:r>
              <a:rPr lang="en-US" sz="2000" b="0">
                <a:solidFill>
                  <a:srgbClr val="E0E8F0"/>
                </a:solidFill>
                <a:latin typeface="Calibri"/>
                <a:ea typeface="Calibri"/>
              </a:rPr>
              <a:t>Smart Urban Traffic Congestion &amp; Resource Demand Forecasting System</a:t>
            </a:r>
          </a:p>
        </p:txBody>
      </p:sp>
      <p:sp>
        <p:nvSpPr>
          <p:cNvPr id="100108" name="GitHub"/>
          <p:cNvSpPr txBox="1"/>
          <p:nvPr/>
        </p:nvSpPr>
        <p:spPr>
          <a:xfrm>
            <a:off x="540000" y="2880000"/>
            <a:ext cx="10800000" cy="360000"/>
          </a:xfrm>
          <a:prstGeom prst="rect">
            <a:avLst/>
          </a:prstGeom>
        </p:spPr>
        <p:txBody>
          <a:bodyPr/>
          <a:lstStyle/>
          <a:p>
            <a:r>
              <a:rPr lang="en-US" sz="1700" b="0">
                <a:solidFill>
                  <a:srgbClr val="A0C4E0"/>
                </a:solidFill>
                <a:latin typeface="Calibri"/>
                <a:ea typeface="Calibri"/>
              </a:rPr>
              <a:t>🔗 GitHub: github.com/mohinibuilds/smart-traffic-forecasting</a:t>
            </a:r>
          </a:p>
        </p:txBody>
      </p:sp>
      <p:sp>
        <p:nvSpPr>
          <p:cNvPr id="100109" name="Dev"/>
          <p:cNvSpPr txBox="1"/>
          <p:nvPr/>
        </p:nvSpPr>
        <p:spPr>
          <a:xfrm>
            <a:off x="540000" y="3420000"/>
            <a:ext cx="10800000" cy="360000"/>
          </a:xfrm>
          <a:prstGeom prst="rect">
            <a:avLst/>
          </a:prstGeom>
        </p:spPr>
        <p:txBody>
          <a:bodyPr/>
          <a:lstStyle/>
          <a:p>
            <a:r>
              <a:rPr lang="en-US" sz="1700" b="0">
                <a:solidFill>
                  <a:srgbClr val="A0C4E0"/>
                </a:solidFill>
                <a:latin typeface="Calibri"/>
                <a:ea typeface="Calibri"/>
              </a:rPr>
              <a:t>👩‍💻 Developer: Mohini  |  GitHub: @mohinibuilds</a:t>
            </a:r>
          </a:p>
        </p:txBody>
      </p:sp>
      <p:sp>
        <p:nvSpPr>
          <p:cNvPr id="100110" name="SDG"/>
          <p:cNvSpPr txBox="1"/>
          <p:nvPr/>
        </p:nvSpPr>
        <p:spPr>
          <a:xfrm>
            <a:off x="540000" y="3960000"/>
            <a:ext cx="10800000" cy="360000"/>
          </a:xfrm>
          <a:prstGeom prst="rect">
            <a:avLst/>
          </a:prstGeom>
        </p:spPr>
        <p:txBody>
          <a:bodyPr/>
          <a:lstStyle/>
          <a:p>
            <a:endParaRPr lang="en-US" sz="1700" b="0" dirty="0">
              <a:solidFill>
                <a:srgbClr val="A0C4E0"/>
              </a:solidFill>
              <a:latin typeface="Calibri"/>
              <a:ea typeface="Calibri"/>
            </a:endParaRPr>
          </a:p>
        </p:txBody>
      </p:sp>
      <p:sp>
        <p:nvSpPr>
          <p:cNvPr id="100111" name="Results"/>
          <p:cNvSpPr txBox="1"/>
          <p:nvPr/>
        </p:nvSpPr>
        <p:spPr>
          <a:xfrm>
            <a:off x="540000" y="4500000"/>
            <a:ext cx="10800000" cy="360000"/>
          </a:xfrm>
          <a:prstGeom prst="rect">
            <a:avLst/>
          </a:prstGeom>
        </p:spPr>
        <p:txBody>
          <a:bodyPr/>
          <a:lstStyle/>
          <a:p>
            <a:r>
              <a:rPr lang="en-US" sz="1600" b="1" dirty="0">
                <a:solidFill>
                  <a:srgbClr val="F5A623"/>
                </a:solidFill>
                <a:latin typeface="Calibri"/>
                <a:ea typeface="Calibri"/>
              </a:rPr>
              <a:t>📊 </a:t>
            </a:r>
            <a:r>
              <a:rPr lang="en-US" sz="1600" b="1" dirty="0" err="1">
                <a:solidFill>
                  <a:srgbClr val="F5A623"/>
                </a:solidFill>
                <a:latin typeface="Calibri"/>
                <a:ea typeface="Calibri"/>
              </a:rPr>
              <a:t>XGBoost</a:t>
            </a:r>
            <a:r>
              <a:rPr lang="en-US" sz="1600" b="1" dirty="0">
                <a:solidFill>
                  <a:srgbClr val="F5A623"/>
                </a:solidFill>
                <a:latin typeface="Calibri"/>
                <a:ea typeface="Calibri"/>
              </a:rPr>
              <a:t> R²= 0.9670  |  Random Forest R²= 0.9647  |  LSTM Stacked (128→64)</a:t>
            </a:r>
          </a:p>
        </p:txBody>
      </p:sp>
      <p:sp>
        <p:nvSpPr>
          <p:cNvPr id="100112" name="BottomBar"/>
          <p:cNvSpPr txBox="1"/>
          <p:nvPr/>
        </p:nvSpPr>
        <p:spPr>
          <a:xfrm>
            <a:off x="0" y="6660000"/>
            <a:ext cx="12193200" cy="216000"/>
          </a:xfrm>
          <a:prstGeom prst="rect">
            <a:avLst/>
          </a:prstGeom>
          <a:solidFill>
            <a:srgbClr val="1A2540"/>
          </a:solidFill>
        </p:spPr>
        <p:txBody>
          <a:bodyPr/>
          <a:lstStyle/>
          <a:p>
            <a:endParaRPr lang="en-US">
              <a:solidFill>
                <a:srgbClr val="1A254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1157</Words>
  <Application>Microsoft Office PowerPoint</Application>
  <PresentationFormat>Widescreen</PresentationFormat>
  <Paragraphs>204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OfficeCLI</dc:creator>
  <cp:lastModifiedBy>DELL</cp:lastModifiedBy>
  <cp:revision>3</cp:revision>
  <dcterms:created xsi:type="dcterms:W3CDTF">2026-10-05T11:25:41Z</dcterms:created>
  <dcterms:modified xsi:type="dcterms:W3CDTF">2026-10-07T09:23:02Z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ceCLI.Version">
    <vt:lpwstr>1.0.154</vt:lpwstr>
  </property>
  <property fmtid="{D5CDD505-2E9C-101B-9397-08002B2CF9AE}" pid="3" name="OfficeCLI.LastModified">
    <vt:lpwstr>2026-10-05T11:30:38Z</vt:lpwstr>
  </property>
</Properties>
</file>