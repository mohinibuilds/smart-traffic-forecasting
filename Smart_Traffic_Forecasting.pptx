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adb869c53724ec9" /><Relationship Type="http://schemas.openxmlformats.org/package/2006/relationships/metadata/core-properties" Target="/docProps/core.xml" Id="R4dba0a797c734a8c" /><Relationship Type="http://schemas.openxmlformats.org/officeDocument/2006/relationships/extended-properties" Target="/docProps/app.xml" Id="R9969734640d244c4" /><Relationship Type="http://schemas.openxmlformats.org/officeDocument/2006/relationships/custom-properties" Target="/docProps/custom.xml" Id="R6fe77ba35c9846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db456bf246c4579"/>
  </p:notesMasterIdLst>
  <p:sldIdLst>
    <p:sldId id="256" r:id="R748f204bdb5440cd"/>
    <p:sldId id="257" r:id="R4a03acf8d3244853"/>
    <p:sldId id="258" r:id="Rfcad36d219c648b7"/>
    <p:sldId id="259" r:id="Refbd42dd2eac426d"/>
    <p:sldId id="260" r:id="R5bcd8908b5664265"/>
    <p:sldId id="261" r:id="Rb6dfc12baf0f4f0c"/>
    <p:sldId id="262" r:id="Re137e2d678944456"/>
    <p:sldId id="263" r:id="Rf79565c2dc1044b8"/>
    <p:sldId id="264" r:id="R4a0e4f3ca04541cd"/>
    <p:sldId id="265" r:id="R0e3374ea4e80482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48f204bdb5440cd" /><Relationship Type="http://schemas.openxmlformats.org/officeDocument/2006/relationships/notesMaster" Target="/ppt/notesMasters/notesMaster1.xml" Id="R0db456bf246c4579" /><Relationship Type="http://schemas.openxmlformats.org/officeDocument/2006/relationships/slide" Target="/ppt/slides/slide2.xml" Id="R4a03acf8d3244853" /><Relationship Type="http://schemas.openxmlformats.org/officeDocument/2006/relationships/slide" Target="/ppt/slides/slide3.xml" Id="Rfcad36d219c648b7" /><Relationship Type="http://schemas.openxmlformats.org/officeDocument/2006/relationships/slide" Target="/ppt/slides/slide4.xml" Id="Refbd42dd2eac426d" /><Relationship Type="http://schemas.openxmlformats.org/officeDocument/2006/relationships/slide" Target="/ppt/slides/slide5.xml" Id="R5bcd8908b5664265" /><Relationship Type="http://schemas.openxmlformats.org/officeDocument/2006/relationships/slide" Target="/ppt/slides/slide6.xml" Id="Rb6dfc12baf0f4f0c" /><Relationship Type="http://schemas.openxmlformats.org/officeDocument/2006/relationships/slide" Target="/ppt/slides/slide7.xml" Id="Re137e2d678944456" /><Relationship Type="http://schemas.openxmlformats.org/officeDocument/2006/relationships/slide" Target="/ppt/slides/slide8.xml" Id="Rf79565c2dc1044b8" /><Relationship Type="http://schemas.openxmlformats.org/officeDocument/2006/relationships/slide" Target="/ppt/slides/slide9.xml" Id="R4a0e4f3ca04541cd" /><Relationship Type="http://schemas.openxmlformats.org/officeDocument/2006/relationships/slide" Target="/ppt/slides/slide10.xml" Id="R0e3374ea4e8048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f2cfd71dcec4c8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731eef2fe5c4699" /><Relationship Type="http://schemas.openxmlformats.org/officeDocument/2006/relationships/slide" Target="/ppt/slides/slide1.xml" Id="R151e58b826fb44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d04aa650f1e4e19" /><Relationship Type="http://schemas.openxmlformats.org/officeDocument/2006/relationships/slide" Target="/ppt/slides/slide2.xml" Id="R43f725f08e394f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640e46f9dd54e03" /><Relationship Type="http://schemas.openxmlformats.org/officeDocument/2006/relationships/slide" Target="/ppt/slides/slide3.xml" Id="R42741dbda5654f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3629cd7f1cc469d" /><Relationship Type="http://schemas.openxmlformats.org/officeDocument/2006/relationships/slide" Target="/ppt/slides/slide4.xml" Id="R75e92d495af04a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96c2befe30f4603" /><Relationship Type="http://schemas.openxmlformats.org/officeDocument/2006/relationships/slide" Target="/ppt/slides/slide5.xml" Id="R02b9080f7b7f4d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63c29f13d7c4032" /><Relationship Type="http://schemas.openxmlformats.org/officeDocument/2006/relationships/slide" Target="/ppt/slides/slide6.xml" Id="R5797da2718f344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ec542f757784664" /><Relationship Type="http://schemas.openxmlformats.org/officeDocument/2006/relationships/slide" Target="/ppt/slides/slide7.xml" Id="R5fb8ba6c37fc4a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2820f458c704f2c" /><Relationship Type="http://schemas.openxmlformats.org/officeDocument/2006/relationships/slide" Target="/ppt/slides/slide8.xml" Id="R9bc7b86c99ea44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05cdd5456224af5" /><Relationship Type="http://schemas.openxmlformats.org/officeDocument/2006/relationships/slide" Target="/ppt/slides/slide9.xml" Id="R4b93551ac3a64b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c40fdf826434688" /><Relationship Type="http://schemas.openxmlformats.org/officeDocument/2006/relationships/slide" Target="/ppt/slides/slide10.xml" Id="R93e1fdbfd36a49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Project: Smart Urban Traffic Congestion &amp; Resource Demand Forecasting System. SDG 11 - Sustainable Cities and Communities.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Urban congestion is a major problem. Cities lack proactive, data-driven traffic management tools. Our project solves this.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Our system predicts congestion 2-4 hours ahead, classifies severity and recommends re-routing actions via an interactive dashboard.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Complete tech stack: Python, pandas, numpy, scikit-learn, XGBoost, TensorFlow/Keras LSTM, matplotlib, seaborn, folium, Streamlit, joblib, Git/GitHub.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5-step pipeline: Data Collection -&gt; Preprocessing -&gt; Feature Engineering -&gt; ML Models -&gt; Dashboard &amp; Alerts.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Feature engineering includes lag features, rolling statistics, sine/cosine cyclical encoding, and weather parameters.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models trained: Random Forest (R2=0.9647), XGBoost (R2=0.9670 - best), and LSTM neural network for sequential patterns.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Dashboard features: KPI cards, 2-4 hour forecasts, severity alerts, 7-day trends, hourly profiles, Folium heatmap, and automated re-routing recommendations.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SDG 11 targets addressed: 11.2 transport systems, 11.6 air quality and environment, 11.b resilient cities.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Final slide. GitHub link: github.com/mohinibuilds/smart-traffic-forecasting. Thank the audience.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e3d97e22a48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d67b51bcbe4cf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bf76565e447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9db323b5343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c0f91625b493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9f400e0898f4ec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299131037415d" /><Relationship Type="http://schemas.openxmlformats.org/officeDocument/2006/relationships/notesSlide" Target="/ppt/notesSlides/notesSlide1.xml" Id="R5f23f61a3c7944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8346c07a843f4" /><Relationship Type="http://schemas.openxmlformats.org/officeDocument/2006/relationships/notesSlide" Target="/ppt/notesSlides/notesSlide2.xml" Id="R7211d114a22a46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c904575644968" /><Relationship Type="http://schemas.openxmlformats.org/officeDocument/2006/relationships/notesSlide" Target="/ppt/notesSlides/notesSlide3.xml" Id="Raf6e7dd841a04c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b4f1231914162" /><Relationship Type="http://schemas.openxmlformats.org/officeDocument/2006/relationships/notesSlide" Target="/ppt/notesSlides/notesSlide4.xml" Id="Rac93ec7aa6684e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d06d6eb6d4d7a" /><Relationship Type="http://schemas.openxmlformats.org/officeDocument/2006/relationships/notesSlide" Target="/ppt/notesSlides/notesSlide5.xml" Id="R0d7723abdb6742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d6a299dd140d7" /><Relationship Type="http://schemas.openxmlformats.org/officeDocument/2006/relationships/notesSlide" Target="/ppt/notesSlides/notesSlide6.xml" Id="Re20bd8fdca524a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2c514efeb4f22" /><Relationship Type="http://schemas.openxmlformats.org/officeDocument/2006/relationships/notesSlide" Target="/ppt/notesSlides/notesSlide7.xml" Id="R884effc2b5e44f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313d731bb4181" /><Relationship Type="http://schemas.openxmlformats.org/officeDocument/2006/relationships/notesSlide" Target="/ppt/notesSlides/notesSlide8.xml" Id="R5ce57406252f40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7e54db5804d45" /><Relationship Type="http://schemas.openxmlformats.org/officeDocument/2006/relationships/notesSlide" Target="/ppt/notesSlides/notesSlide9.xml" Id="R560738457aeb47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236d00e464f25" /><Relationship Type="http://schemas.openxmlformats.org/officeDocument/2006/relationships/notesSlide" Target="/ppt/notesSlides/notesSlide10.xml" Id="Rc96f3a41c90b42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00" name="Title"/>
          <p:cNvSpPr txBox="1"/>
          <p:nvPr/>
        </p:nvSpPr>
        <p:spPr>
          <a:xfrm xmlns:a="http://schemas.openxmlformats.org/drawingml/2006/main">
            <a:off x="540000" y="1080000"/>
            <a:ext cx="108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200" b="1">
                <a:solidFill>
                  <a:srgbClr val="FFFFFF"/>
                </a:solidFill>
              </a:rPr>
              <a:t>🚦 Smart Urban Traffic Congestion &amp; Resource Demand Forecasting System</a:t>
            </a:r>
          </a:p>
        </p:txBody>
      </p:sp>
      <p:sp>
        <p:nvSpPr>
          <p:cNvPr id="100001" name="Sub"/>
          <p:cNvSpPr txBox="1"/>
          <p:nvPr/>
        </p:nvSpPr>
        <p:spPr>
          <a:xfrm xmlns:a="http://schemas.openxmlformats.org/drawingml/2006/main">
            <a:off x="540000" y="306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0">
                <a:solidFill>
                  <a:srgbClr val="90C8F0"/>
                </a:solidFill>
              </a:rPr>
              <a:t>SDG 11 — Sustainable Cities &amp; Communities</a:t>
            </a:r>
          </a:p>
        </p:txBody>
      </p:sp>
      <p:sp>
        <p:nvSpPr>
          <p:cNvPr id="100002" name="Dev"/>
          <p:cNvSpPr txBox="1"/>
          <p:nvPr/>
        </p:nvSpPr>
        <p:spPr>
          <a:xfrm xmlns:a="http://schemas.openxmlformats.org/drawingml/2006/main">
            <a:off x="540000" y="3780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AAAAAA"/>
                </a:solidFill>
              </a:rPr>
              <a:t>Developer: Mohini (@mohinibuilds)  |  Domain: Applied ML &amp; Predictive Analytics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3" name="Title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3A5F"/>
                </a:solidFill>
              </a:rPr>
              <a:t>Problem Statement</a:t>
            </a:r>
          </a:p>
        </p:txBody>
      </p:sp>
      <p:sp>
        <p:nvSpPr>
          <p:cNvPr id="100004" name="Body"/>
          <p:cNvSpPr txBox="1"/>
          <p:nvPr/>
        </p:nvSpPr>
        <p:spPr>
          <a:xfrm xmlns:a="http://schemas.openxmlformats.org/drawingml/2006/main">
            <a:off x="540000" y="1080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❌ Urban traffic congestion costs cities billions every year</a:t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❌ Traffic controllers have NO advance warning of upcoming congestion</a:t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❌ Excessive vehicle idling increases CO₂ and NOx greenhouse gas emissions</a:t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❌ Current systems are REACTIVE — they respond after congestion happens</a:t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❌ No data-driven tool for municipal traffic resource allocation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Title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3A5F"/>
                </a:solidFill>
              </a:rPr>
              <a:t>Our Solution</a:t>
            </a:r>
          </a:p>
        </p:txBody>
      </p:sp>
      <p:sp>
        <p:nvSpPr>
          <p:cNvPr id="100006" name="Body"/>
          <p:cNvSpPr txBox="1"/>
          <p:nvPr/>
        </p:nvSpPr>
        <p:spPr>
          <a:xfrm xmlns:a="http://schemas.openxmlformats.org/drawingml/2006/main">
            <a:off x="540000" y="1080000"/>
            <a:ext cx="108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✅ Predicts traffic volume 2 to 4 hours in advance</a:t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✅ Classifies congestion severity as Low, Medium, or High</a:t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✅ Recommends automated re-routing strategies for municipal authorities</a:t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✅ Interactive Streamlit dashboard with real-time alerts</a:t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✅ Covers 10 road segments with hourly spatial-temporal data</a:t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2000">
                <a:solidFill>
                  <a:srgbClr val="333333"/>
                </a:solidFill>
              </a:rPr>
              <a:t>✅ Trained on 87,600 rows of traffic, speed, and weather data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7" name="Title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3A5F"/>
                </a:solidFill>
              </a:rPr>
              <a:t>Tech Stack &amp; Tools</a:t>
            </a:r>
          </a:p>
        </p:txBody>
      </p:sp>
      <p:sp>
        <p:nvSpPr>
          <p:cNvPr id="100008" name="Col1"/>
          <p:cNvSpPr txBox="1"/>
          <p:nvPr/>
        </p:nvSpPr>
        <p:spPr>
          <a:xfrm xmlns:a="http://schemas.openxmlformats.org/drawingml/2006/main">
            <a:off x="540000" y="1080000"/>
            <a:ext cx="32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🐍 Language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Python 3.x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📊 Data Processing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pandas, numpy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🤖 Machine Learning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scikit-learn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XGBoost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Random Forest</a:t>
            </a:r>
          </a:p>
        </p:txBody>
      </p:sp>
      <p:sp>
        <p:nvSpPr>
          <p:cNvPr id="100009" name="Col2"/>
          <p:cNvSpPr txBox="1"/>
          <p:nvPr/>
        </p:nvSpPr>
        <p:spPr>
          <a:xfrm xmlns:a="http://schemas.openxmlformats.org/drawingml/2006/main">
            <a:off x="4320000" y="1080000"/>
            <a:ext cx="32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🧠 Deep Learning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TensorFlow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Keras LSTM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📈 Visualization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matplotlib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seaborn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🗺️ Mapping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folium (Heatmaps)</a:t>
            </a:r>
          </a:p>
        </p:txBody>
      </p:sp>
      <p:sp>
        <p:nvSpPr>
          <p:cNvPr id="100010" name="Col3"/>
          <p:cNvSpPr txBox="1"/>
          <p:nvPr/>
        </p:nvSpPr>
        <p:spPr>
          <a:xfrm xmlns:a="http://schemas.openxmlformats.org/drawingml/2006/main">
            <a:off x="7920000" y="1080000"/>
            <a:ext cx="360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🌐 Dashboard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Streamlit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💾 Model Saving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joblib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📂 Version Control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Git + GitHub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🔗 github.com/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mohinibuilds/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smart-traffic-forecasting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1" name="Title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3A5F"/>
                </a:solidFill>
              </a:rPr>
              <a:t>Technical Workflow</a:t>
            </a:r>
          </a:p>
        </p:txBody>
      </p:sp>
      <p:sp>
        <p:nvSpPr>
          <p:cNvPr id="100012" name="Step1"/>
          <p:cNvSpPr txBox="1"/>
          <p:nvPr/>
        </p:nvSpPr>
        <p:spPr>
          <a:xfrm xmlns:a="http://schemas.openxmlformats.org/drawingml/2006/main">
            <a:off x="180000" y="1260000"/>
            <a:ext cx="198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1. DATA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COLLECTION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87,600 rows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10 segments</a:t>
            </a:r>
          </a:p>
          <a:p xmlns:a="http://schemas.openxmlformats.org/drawingml/2006/main">
            <a:pPr algn="ctr"/>
            <a:r>
              <a:rPr lang="en-US" sz="1500" b="0">
                <a:solidFill>
                  <a:srgbClr val="FFFFFF"/>
                </a:solidFill>
              </a:rPr>
              <a:t>365 days</a:t>
            </a:r>
          </a:p>
        </p:txBody>
      </p:sp>
      <p:sp>
        <p:nvSpPr>
          <p:cNvPr id="100013" name="Arrow1"/>
          <p:cNvSpPr txBox="1"/>
          <p:nvPr/>
        </p:nvSpPr>
        <p:spPr>
          <a:xfrm xmlns:a="http://schemas.openxmlformats.org/drawingml/2006/main">
            <a:off x="2268000" y="1980000"/>
            <a:ext cx="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00014" name="Step2"/>
          <p:cNvSpPr txBox="1"/>
          <p:nvPr/>
        </p:nvSpPr>
        <p:spPr>
          <a:xfrm xmlns:a="http://schemas.openxmlformats.org/drawingml/2006/main">
            <a:off x="2700000" y="1260000"/>
            <a:ext cx="198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DA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2. PRE-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PROCESSING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Interpolation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Cyclical Encoding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Scaling</a:t>
            </a:r>
          </a:p>
        </p:txBody>
      </p:sp>
      <p:sp>
        <p:nvSpPr>
          <p:cNvPr id="100015" name="Arrow2"/>
          <p:cNvSpPr txBox="1"/>
          <p:nvPr/>
        </p:nvSpPr>
        <p:spPr>
          <a:xfrm xmlns:a="http://schemas.openxmlformats.org/drawingml/2006/main">
            <a:off x="4788000" y="1980000"/>
            <a:ext cx="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00016" name="Step3"/>
          <p:cNvSpPr txBox="1"/>
          <p:nvPr/>
        </p:nvSpPr>
        <p:spPr>
          <a:xfrm xmlns:a="http://schemas.openxmlformats.org/drawingml/2006/main">
            <a:off x="5220000" y="1260000"/>
            <a:ext cx="198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3. FEATURE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ENGINEERING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Lag Features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Rolling Stats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Weather</a:t>
            </a:r>
          </a:p>
        </p:txBody>
      </p:sp>
      <p:sp>
        <p:nvSpPr>
          <p:cNvPr id="100017" name="Arrow3"/>
          <p:cNvSpPr txBox="1"/>
          <p:nvPr/>
        </p:nvSpPr>
        <p:spPr>
          <a:xfrm xmlns:a="http://schemas.openxmlformats.org/drawingml/2006/main">
            <a:off x="7308000" y="1980000"/>
            <a:ext cx="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00018" name="Step4"/>
          <p:cNvSpPr txBox="1"/>
          <p:nvPr/>
        </p:nvSpPr>
        <p:spPr>
          <a:xfrm xmlns:a="http://schemas.openxmlformats.org/drawingml/2006/main">
            <a:off x="7740000" y="1260000"/>
            <a:ext cx="198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4. ML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MODELS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Random Forest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XGBoost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LSTM</a:t>
            </a:r>
          </a:p>
        </p:txBody>
      </p:sp>
      <p:sp>
        <p:nvSpPr>
          <p:cNvPr id="100019" name="Arrow4"/>
          <p:cNvSpPr txBox="1"/>
          <p:nvPr/>
        </p:nvSpPr>
        <p:spPr>
          <a:xfrm xmlns:a="http://schemas.openxmlformats.org/drawingml/2006/main">
            <a:off x="9828000" y="1980000"/>
            <a:ext cx="3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00020" name="Step5"/>
          <p:cNvSpPr txBox="1"/>
          <p:nvPr/>
        </p:nvSpPr>
        <p:spPr>
          <a:xfrm xmlns:a="http://schemas.openxmlformats.org/drawingml/2006/main">
            <a:off x="10260000" y="1260000"/>
            <a:ext cx="198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C7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5. DASHBOARD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&amp; ALERTS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Forecasts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Heatmap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</a:rPr>
              <a:t>Re-routing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1" name="Title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3A5F"/>
                </a:solidFill>
              </a:rPr>
              <a:t>Feature Engineering</a:t>
            </a:r>
          </a:p>
        </p:txBody>
      </p:sp>
      <p:sp>
        <p:nvSpPr>
          <p:cNvPr id="100022" name="Body"/>
          <p:cNvSpPr txBox="1"/>
          <p:nvPr/>
        </p:nvSpPr>
        <p:spPr>
          <a:xfrm xmlns:a="http://schemas.openxmlformats.org/drawingml/2006/main">
            <a:off x="540000" y="1080000"/>
            <a:ext cx="10800000" cy="48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📌 Lag Features (Historical Patterns)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   • Vehicle volume at t-1, t-2, t-3 hours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   • Vehicle volume at t-24 hours (same time yesterday)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📌 Rolling Window Statistics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   • 3-hour, 6-hour, 24-hour moving average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   • 3-hour, 6-hour, 24-hour rolling standard deviation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📌 Cyclical Time Encoding (Sine / Cosine)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   • Hour of day (period = 24)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   • Day of week (period = 7)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   • Month of year (period = 12)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📌 Weather Parameters</a:t>
            </a:r>
          </a:p>
          <a:p xmlns:a="http://schemas.openxmlformats.org/drawingml/2006/main">
            <a:r>
              <a:rPr lang="en-US" sz="1900">
                <a:solidFill>
                  <a:srgbClr val="333333"/>
                </a:solidFill>
              </a:rPr>
              <a:t>   • Temperature (°C), Rainfall (mm), Visibility (km), Is Weekend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3" name="Title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3A5F"/>
                </a:solidFill>
              </a:rPr>
              <a:t>Model Architecture &amp; Results</a:t>
            </a:r>
          </a:p>
        </p:txBody>
      </p:sp>
      <p:sp>
        <p:nvSpPr>
          <p:cNvPr id="100024" name="RF"/>
          <p:cNvSpPr txBox="1"/>
          <p:nvPr/>
        </p:nvSpPr>
        <p:spPr>
          <a:xfrm xmlns:a="http://schemas.openxmlformats.org/drawingml/2006/main">
            <a:off x="540000" y="1080000"/>
            <a:ext cx="342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E3A5F"/>
                </a:solidFill>
              </a:rPr>
              <a:t>🌲 RANDOM FOREST</a:t>
            </a:r>
          </a:p>
          <a:p xmlns:a="http://schemas.openxmlformats.org/drawingml/2006/main">
            <a:r>
              <a:rPr lang="en-US" sz="17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E3A5F"/>
                </a:solidFill>
              </a:rPr>
              <a:t>Type: Ensemble (200 trees)</a:t>
            </a:r>
          </a:p>
          <a:p xmlns:a="http://schemas.openxmlformats.org/drawingml/2006/main">
            <a:r>
              <a:rPr lang="en-US" sz="1700">
                <a:solidFill>
                  <a:srgbClr val="1E3A5F"/>
                </a:solidFill>
              </a:rPr>
              <a:t>MAE: 135.39 vehicles/hr</a:t>
            </a:r>
          </a:p>
          <a:p xmlns:a="http://schemas.openxmlformats.org/drawingml/2006/main">
            <a:r>
              <a:rPr lang="en-US" sz="1700">
                <a:solidFill>
                  <a:srgbClr val="1E3A5F"/>
                </a:solidFill>
              </a:rPr>
              <a:t>RMSE: 190.92 vehicles/hr</a:t>
            </a:r>
          </a:p>
          <a:p xmlns:a="http://schemas.openxmlformats.org/drawingml/2006/main">
            <a:r>
              <a:rPr lang="en-US" sz="1700">
                <a:solidFill>
                  <a:srgbClr val="1E3A5F"/>
                </a:solidFill>
              </a:rPr>
              <a:t>R² Score: 0.9647</a:t>
            </a:r>
          </a:p>
          <a:p xmlns:a="http://schemas.openxmlformats.org/drawingml/2006/main">
            <a:r>
              <a:rPr lang="en-US" sz="1700">
                <a:solidFill>
                  <a:srgbClr val="1E3A5F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E3A5F"/>
                </a:solidFill>
              </a:rPr>
              <a:t>Best for: Short-term tabular forecasting</a:t>
            </a:r>
          </a:p>
        </p:txBody>
      </p:sp>
      <p:sp>
        <p:nvSpPr>
          <p:cNvPr id="100025" name="XGB"/>
          <p:cNvSpPr txBox="1"/>
          <p:nvPr/>
        </p:nvSpPr>
        <p:spPr>
          <a:xfrm xmlns:a="http://schemas.openxmlformats.org/drawingml/2006/main">
            <a:off x="4500000" y="1080000"/>
            <a:ext cx="342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7C5CD8"/>
                </a:solidFill>
              </a:rPr>
              <a:t>⚡ XGBOOST</a:t>
            </a:r>
          </a:p>
          <a:p xmlns:a="http://schemas.openxmlformats.org/drawingml/2006/main">
            <a:r>
              <a:rPr lang="en-US" sz="1700">
                <a:solidFill>
                  <a:srgbClr val="7C5CD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7C5CD8"/>
                </a:solidFill>
              </a:rPr>
              <a:t>Type: Gradient Boosting</a:t>
            </a:r>
          </a:p>
          <a:p xmlns:a="http://schemas.openxmlformats.org/drawingml/2006/main">
            <a:r>
              <a:rPr lang="en-US" sz="1700">
                <a:solidFill>
                  <a:srgbClr val="7C5CD8"/>
                </a:solidFill>
              </a:rPr>
              <a:t>MAE: 134.30 vehicles/hr</a:t>
            </a:r>
          </a:p>
          <a:p xmlns:a="http://schemas.openxmlformats.org/drawingml/2006/main">
            <a:r>
              <a:rPr lang="en-US" sz="1700">
                <a:solidFill>
                  <a:srgbClr val="7C5CD8"/>
                </a:solidFill>
              </a:rPr>
              <a:t>RMSE: 184.60 vehicles/hr</a:t>
            </a:r>
          </a:p>
          <a:p xmlns:a="http://schemas.openxmlformats.org/drawingml/2006/main">
            <a:r>
              <a:rPr lang="en-US" sz="1700">
                <a:solidFill>
                  <a:srgbClr val="7C5CD8"/>
                </a:solidFill>
              </a:rPr>
              <a:t>R² Score: 0.9670 ✅ Best</a:t>
            </a:r>
          </a:p>
          <a:p xmlns:a="http://schemas.openxmlformats.org/drawingml/2006/main">
            <a:r>
              <a:rPr lang="en-US" sz="1700">
                <a:solidFill>
                  <a:srgbClr val="7C5CD8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7C5CD8"/>
                </a:solidFill>
              </a:rPr>
              <a:t>Best for: Accurate tabular forecasting</a:t>
            </a:r>
          </a:p>
        </p:txBody>
      </p:sp>
      <p:sp>
        <p:nvSpPr>
          <p:cNvPr id="100026" name="LSTM"/>
          <p:cNvSpPr txBox="1"/>
          <p:nvPr/>
        </p:nvSpPr>
        <p:spPr>
          <a:xfrm xmlns:a="http://schemas.openxmlformats.org/drawingml/2006/main">
            <a:off x="8460000" y="1080000"/>
            <a:ext cx="342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9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1A7F3C"/>
                </a:solidFill>
              </a:rPr>
              <a:t>🧠 LSTM NEURAL NET</a:t>
            </a:r>
          </a:p>
          <a:p xmlns:a="http://schemas.openxmlformats.org/drawingml/2006/main">
            <a:r>
              <a:rPr lang="en-US" sz="1700">
                <a:solidFill>
                  <a:srgbClr val="1A7F3C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A7F3C"/>
                </a:solidFill>
              </a:rPr>
              <a:t>Type: Stacked LSTM (128→64)</a:t>
            </a:r>
          </a:p>
          <a:p xmlns:a="http://schemas.openxmlformats.org/drawingml/2006/main">
            <a:r>
              <a:rPr lang="en-US" sz="1700">
                <a:solidFill>
                  <a:srgbClr val="1A7F3C"/>
                </a:solidFill>
              </a:rPr>
              <a:t>Input: 24-hour sequences</a:t>
            </a:r>
          </a:p>
          <a:p xmlns:a="http://schemas.openxmlformats.org/drawingml/2006/main">
            <a:r>
              <a:rPr lang="en-US" sz="1700">
                <a:solidFill>
                  <a:srgbClr val="1A7F3C"/>
                </a:solidFill>
              </a:rPr>
              <a:t>Layers: BatchNorm + Dropout</a:t>
            </a:r>
          </a:p>
          <a:p xmlns:a="http://schemas.openxmlformats.org/drawingml/2006/main">
            <a:r>
              <a:rPr lang="en-US" sz="1700">
                <a:solidFill>
                  <a:srgbClr val="1A7F3C"/>
                </a:solidFill>
              </a:rPr>
              <a:t>Callbacks: EarlyStopping</a:t>
            </a:r>
          </a:p>
          <a:p xmlns:a="http://schemas.openxmlformats.org/drawingml/2006/main">
            <a:r>
              <a:rPr lang="en-US" sz="1700">
                <a:solidFill>
                  <a:srgbClr val="1A7F3C"/>
                </a:solidFill>
              </a:rPr>
              <a:t/>
            </a:r>
          </a:p>
          <a:p xmlns:a="http://schemas.openxmlformats.org/drawingml/2006/main">
            <a:r>
              <a:rPr lang="en-US" sz="1700">
                <a:solidFill>
                  <a:srgbClr val="1A7F3C"/>
                </a:solidFill>
              </a:rPr>
              <a:t>Best for: Long-term sequential patterns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7" name="Title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3A5F"/>
                </a:solidFill>
              </a:rPr>
              <a:t>Dashboard Features</a:t>
            </a:r>
          </a:p>
        </p:txBody>
      </p:sp>
      <p:sp>
        <p:nvSpPr>
          <p:cNvPr id="100028" name="Left"/>
          <p:cNvSpPr txBox="1"/>
          <p:nvPr/>
        </p:nvSpPr>
        <p:spPr>
          <a:xfrm xmlns:a="http://schemas.openxmlformats.org/drawingml/2006/main">
            <a:off x="540000" y="1080000"/>
            <a:ext cx="504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📊 REAL-TIME KPIs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Current vehicle volume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Average speed (km/h)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Rainfall (mm)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Congestion severity badge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🔮 FORECAST CARDS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+1h, +2h, +3h, +4h predictions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Colour-coded severity alerts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Bar chart visualization</a:t>
            </a:r>
          </a:p>
        </p:txBody>
      </p:sp>
      <p:sp>
        <p:nvSpPr>
          <p:cNvPr id="100029" name="Right"/>
          <p:cNvSpPr txBox="1"/>
          <p:nvPr/>
        </p:nvSpPr>
        <p:spPr>
          <a:xfrm xmlns:a="http://schemas.openxmlformats.org/drawingml/2006/main">
            <a:off x="6120000" y="1080000"/>
            <a:ext cx="576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📈 TREND ANALYSIS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Last 7-day traffic trend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Hourly traffic profile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Peak hour detection (red bars)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🗺️ CONGESTION HEATMAP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Interactive Folium map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All 10 road segments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Live volume intensity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🔀 RE-ROUTING ALERTS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Automated recommendations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• Low / Medium / High actions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0" name="Title"/>
          <p:cNvSpPr txBox="1"/>
          <p:nvPr/>
        </p:nvSpPr>
        <p:spPr>
          <a:xfrm xmlns:a="http://schemas.openxmlformats.org/drawingml/2006/main">
            <a:off x="540000" y="288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E3A5F"/>
                </a:solidFill>
              </a:rPr>
              <a:t>SDG 11 Impact</a:t>
            </a:r>
          </a:p>
        </p:txBody>
      </p:sp>
      <p:sp>
        <p:nvSpPr>
          <p:cNvPr id="100031" name="SDG11"/>
          <p:cNvSpPr txBox="1"/>
          <p:nvPr/>
        </p:nvSpPr>
        <p:spPr>
          <a:xfrm xmlns:a="http://schemas.openxmlformats.org/drawingml/2006/main">
            <a:off x="540000" y="100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b="1">
                <a:solidFill>
                  <a:srgbClr val="F79421"/>
                </a:solidFill>
              </a:rPr>
              <a:t>🏙️ SDG 11 — Sustainable Cities &amp; Communities</a:t>
            </a:r>
          </a:p>
        </p:txBody>
      </p:sp>
      <p:sp>
        <p:nvSpPr>
          <p:cNvPr id="100032" name="T1"/>
          <p:cNvSpPr txBox="1"/>
          <p:nvPr/>
        </p:nvSpPr>
        <p:spPr>
          <a:xfrm xmlns:a="http://schemas.openxmlformats.org/drawingml/2006/main">
            <a:off x="540000" y="1728000"/>
            <a:ext cx="1080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🎯 Target 11.2 — Transport Systems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Provides 2-4 hour advance congestion warnings enabling proactive traffic signal control, route diversions and resource pre-positioning for municipal authorities.</a:t>
            </a:r>
          </a:p>
        </p:txBody>
      </p:sp>
      <p:sp>
        <p:nvSpPr>
          <p:cNvPr id="100033" name="T2"/>
          <p:cNvSpPr txBox="1"/>
          <p:nvPr/>
        </p:nvSpPr>
        <p:spPr>
          <a:xfrm xmlns:a="http://schemas.openxmlformats.org/drawingml/2006/main">
            <a:off x="540000" y="2988000"/>
            <a:ext cx="1080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9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🌍 Target 11.6 — Air Quality &amp; Environment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Reduces vehicle idling time at congestion hotspots, directly lowering localized CO₂, NOx and particulate matter emissions from urban traffic.</a:t>
            </a:r>
          </a:p>
        </p:txBody>
      </p:sp>
      <p:sp>
        <p:nvSpPr>
          <p:cNvPr id="100034" name="T3"/>
          <p:cNvSpPr txBox="1"/>
          <p:nvPr/>
        </p:nvSpPr>
        <p:spPr>
          <a:xfrm xmlns:a="http://schemas.openxmlformats.org/drawingml/2006/main">
            <a:off x="540000" y="4248000"/>
            <a:ext cx="10800000" cy="11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🏛️ Target 11.b — Resilient &amp; Sustainable Cities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</a:rPr>
              <a:t>Supports data-driven urban policy-making, helping cities build adaptive, intelligent transport infrastructure aligned with sustainability goals.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35" name="Title"/>
          <p:cNvSpPr txBox="1"/>
          <p:nvPr/>
        </p:nvSpPr>
        <p:spPr>
          <a:xfrm xmlns:a="http://schemas.openxmlformats.org/drawingml/2006/main">
            <a:off x="540000" y="900000"/>
            <a:ext cx="108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100036" name="Sub"/>
          <p:cNvSpPr txBox="1"/>
          <p:nvPr/>
        </p:nvSpPr>
        <p:spPr>
          <a:xfrm xmlns:a="http://schemas.openxmlformats.org/drawingml/2006/main">
            <a:off x="540000" y="1980000"/>
            <a:ext cx="1080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90C8F0"/>
                </a:solidFill>
              </a:rPr>
              <a:t>Smart Urban Traffic Congestion &amp; Resource Demand Forecasting System</a:t>
            </a:r>
          </a:p>
        </p:txBody>
      </p:sp>
      <p:sp>
        <p:nvSpPr>
          <p:cNvPr id="100037" name="Links"/>
          <p:cNvSpPr txBox="1"/>
          <p:nvPr/>
        </p:nvSpPr>
        <p:spPr>
          <a:xfrm xmlns:a="http://schemas.openxmlformats.org/drawingml/2006/main">
            <a:off x="1080000" y="2880000"/>
            <a:ext cx="972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</a:rPr>
              <a:t>🔗 GitHub: github.com/mohinibuilds/smart-traffic-forecasting</a:t>
            </a:r>
          </a:p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</a:rPr>
              <a:t>👩‍💻 Developer: Mohini  |  GitHub: @mohinibuilds</a:t>
            </a:r>
          </a:p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</a:rPr>
              <a:t>🌍 SDG 11 — Sustainable Cities &amp; Communities</a:t>
            </a:r>
          </a:p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</a:rPr>
              <a:t>📊 Models: XGBoost R²=0.9670  |  Random Forest R²=0.9647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2026-10-05T10:50:29Z</dcterms:created>
  <cp:lastModifiedBy>OfficeCLI</cp:lastModifiedBy>
  <dcterms:modified xsi:type="dcterms:W3CDTF">2026-10-05T10:50:29Z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2026-10-05T10:50:31Z</vt:lpwstr>
  </op:property>
</op:Properties>
</file>