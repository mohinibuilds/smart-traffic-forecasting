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94bb24df90d4eec" /><Relationship Type="http://schemas.openxmlformats.org/package/2006/relationships/metadata/core-properties" Target="/docProps/core.xml" Id="R35f7d969c7a54581" /><Relationship Type="http://schemas.openxmlformats.org/officeDocument/2006/relationships/extended-properties" Target="/docProps/app.xml" Id="R5cb1eae622dc40b1" /><Relationship Type="http://schemas.openxmlformats.org/officeDocument/2006/relationships/custom-properties" Target="/docProps/custom.xml" Id="Rea893035981c420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5d30405da5b34b59"/>
  </p:notesMasterIdLst>
  <p:sldIdLst>
    <p:sldId id="256" r:id="Ra09a8dd9889d4639"/>
    <p:sldId id="257" r:id="Rd8c2b31f9d9c4cef"/>
    <p:sldId id="258" r:id="R3c9fc2f6a0044247"/>
    <p:sldId id="259" r:id="R8dc899f4389946f1"/>
    <p:sldId id="260" r:id="Rf74537bb345f4b51"/>
    <p:sldId id="261" r:id="R8b48b614edcc491a"/>
    <p:sldId id="262" r:id="R284e167f713d490c"/>
    <p:sldId id="263" r:id="R1975e81e20464761"/>
    <p:sldId id="264" r:id="R33ace156105943df"/>
    <p:sldId id="265" r:id="R10274e6a6cbe4964"/>
    <p:sldId id="266" r:id="R5961cc4a5063471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a09a8dd9889d4639" /><Relationship Type="http://schemas.openxmlformats.org/officeDocument/2006/relationships/notesMaster" Target="/ppt/notesMasters/notesMaster1.xml" Id="R5d30405da5b34b59" /><Relationship Type="http://schemas.openxmlformats.org/officeDocument/2006/relationships/slide" Target="/ppt/slides/slide2.xml" Id="Rd8c2b31f9d9c4cef" /><Relationship Type="http://schemas.openxmlformats.org/officeDocument/2006/relationships/slide" Target="/ppt/slides/slide3.xml" Id="R3c9fc2f6a0044247" /><Relationship Type="http://schemas.openxmlformats.org/officeDocument/2006/relationships/slide" Target="/ppt/slides/slide4.xml" Id="R8dc899f4389946f1" /><Relationship Type="http://schemas.openxmlformats.org/officeDocument/2006/relationships/slide" Target="/ppt/slides/slide5.xml" Id="Rf74537bb345f4b51" /><Relationship Type="http://schemas.openxmlformats.org/officeDocument/2006/relationships/slide" Target="/ppt/slides/slide6.xml" Id="R8b48b614edcc491a" /><Relationship Type="http://schemas.openxmlformats.org/officeDocument/2006/relationships/slide" Target="/ppt/slides/slide7.xml" Id="R284e167f713d490c" /><Relationship Type="http://schemas.openxmlformats.org/officeDocument/2006/relationships/slide" Target="/ppt/slides/slide8.xml" Id="R1975e81e20464761" /><Relationship Type="http://schemas.openxmlformats.org/officeDocument/2006/relationships/slide" Target="/ppt/slides/slide9.xml" Id="R33ace156105943df" /><Relationship Type="http://schemas.openxmlformats.org/officeDocument/2006/relationships/slide" Target="/ppt/slides/slide10.xml" Id="R10274e6a6cbe4964" /><Relationship Type="http://schemas.openxmlformats.org/officeDocument/2006/relationships/slide" Target="/ppt/slides/slide11.xml" Id="R5961cc4a506347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dc42cdd34174891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f9ce0a306884111" /><Relationship Type="http://schemas.openxmlformats.org/officeDocument/2006/relationships/slide" Target="/ppt/slides/slide1.xml" Id="R7036120d68b643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de632176e534963" /><Relationship Type="http://schemas.openxmlformats.org/officeDocument/2006/relationships/slide" Target="/ppt/slides/slide2.xml" Id="Rb859940adb6949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0a4494f675f4333" /><Relationship Type="http://schemas.openxmlformats.org/officeDocument/2006/relationships/slide" Target="/ppt/slides/slide3.xml" Id="R0a5933b3d2ab44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0570c91c7dc46f0" /><Relationship Type="http://schemas.openxmlformats.org/officeDocument/2006/relationships/slide" Target="/ppt/slides/slide4.xml" Id="Rf7d012d287144c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7fab3c90e194b1c" /><Relationship Type="http://schemas.openxmlformats.org/officeDocument/2006/relationships/slide" Target="/ppt/slides/slide5.xml" Id="R44ac69be410e40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aa61ca710684d29" /><Relationship Type="http://schemas.openxmlformats.org/officeDocument/2006/relationships/slide" Target="/ppt/slides/slide6.xml" Id="R1b5fc46cbdcf494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33a10832f7748ea" /><Relationship Type="http://schemas.openxmlformats.org/officeDocument/2006/relationships/slide" Target="/ppt/slides/slide7.xml" Id="Rd134f34d9d974f5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276e182d1904c81" /><Relationship Type="http://schemas.openxmlformats.org/officeDocument/2006/relationships/slide" Target="/ppt/slides/slide8.xml" Id="Rbccfca309107474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30aa510d0254756" /><Relationship Type="http://schemas.openxmlformats.org/officeDocument/2006/relationships/slide" Target="/ppt/slides/slide9.xml" Id="R4a6fba33d52a471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8a9ff3385c84944" /><Relationship Type="http://schemas.openxmlformats.org/officeDocument/2006/relationships/slide" Target="/ppt/slides/slide10.xml" Id="R51d592e41cc6489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bfd9c87569c4069" /><Relationship Type="http://schemas.openxmlformats.org/officeDocument/2006/relationships/slide" Target="/ppt/slides/slide11.xml" Id="R263a788318a74a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Title Slide — Smart Urban Traffic Forecasting System. Developer: Mohini.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Problem Statement: Urban congestion is reactive, no prediction tools, causes emissions and economic loss.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Our Solution: 2-4 hour ahead prediction, severity classification, re-routing, Streamlit dashboard, 87600 rows of data.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Tech Stack: Python, pandas, numpy, scikit-learn, XGBoost, TensorFlow LSTM, Streamlit, Folium, joblib, GitHub.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Technical Workflow: Data Collection → Pre-processing → Feature Engineering → ML Models → Dashboard &amp; Alerts.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Feature Engineering: Lag features, rolling stats, cyclical time encoding, weather parameters.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Model Results: Random Forest R²=0.9647, XGBoost R²=0.9670 (best), LSTM for sequential patterns.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Dashboard UI Preview: Sidebar controls, KPI cards (volume, speed, rain, congestion), forecast cards, 7-day trend chart, Folium heatmap. Run: streamlit run app.py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Streamlit dashboard has 6 sections: Real-time KPIs, Forecast Cards, Trend Analysis, Heatmap, Re-routing Alerts, Feature Importance.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SDG 11 Impact: Target 11.2 Transport, 11.6 Air Quality, 11.b Resilient Cities.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Thank You slide. Developer: Mohini. GitHub: mohinibuilds. SDG 11. Best model XGBoost R2=0.9670.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3d6a773e0d47c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ca7fe2d13e4dd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033fc62a7449a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5acec7448b4e7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cc175639e74cef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06944a4f677a4f04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693030beb944df" /><Relationship Type="http://schemas.openxmlformats.org/officeDocument/2006/relationships/notesSlide" Target="/ppt/notesSlides/notesSlide1.xml" Id="R4abe621e3df545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8d7e5f106044e0" /><Relationship Type="http://schemas.openxmlformats.org/officeDocument/2006/relationships/notesSlide" Target="/ppt/notesSlides/notesSlide2.xml" Id="R699da5ea3cfa4d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97a917e549488b" /><Relationship Type="http://schemas.openxmlformats.org/officeDocument/2006/relationships/notesSlide" Target="/ppt/notesSlides/notesSlide3.xml" Id="R7e5e4c73a69944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7166e6aa9a4530" /><Relationship Type="http://schemas.openxmlformats.org/officeDocument/2006/relationships/notesSlide" Target="/ppt/notesSlides/notesSlide4.xml" Id="R44c7673553154b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802489c6a846b6" /><Relationship Type="http://schemas.openxmlformats.org/officeDocument/2006/relationships/notesSlide" Target="/ppt/notesSlides/notesSlide5.xml" Id="R1e83078782c14f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2f42e49ea4419b" /><Relationship Type="http://schemas.openxmlformats.org/officeDocument/2006/relationships/notesSlide" Target="/ppt/notesSlides/notesSlide6.xml" Id="R019351f8d8074d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7bebb41b549ab" /><Relationship Type="http://schemas.openxmlformats.org/officeDocument/2006/relationships/notesSlide" Target="/ppt/notesSlides/notesSlide7.xml" Id="R25278d6f548d4c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46ed81abe74b50" /><Relationship Type="http://schemas.openxmlformats.org/officeDocument/2006/relationships/notesSlide" Target="/ppt/notesSlides/notesSlide8.xml" Id="R37c8b1b18c5f48f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a75f0aa55f412c" /><Relationship Type="http://schemas.openxmlformats.org/officeDocument/2006/relationships/notesSlide" Target="/ppt/notesSlides/notesSlide9.xml" Id="R37fdac0f54eb4c2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9cdee6b00a4b93" /><Relationship Type="http://schemas.openxmlformats.org/officeDocument/2006/relationships/notesSlide" Target="/ppt/notesSlides/notesSlide10.xml" Id="Rec4cc0ed8fdb43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2649e0c3d1418d" /><Relationship Type="http://schemas.openxmlformats.org/officeDocument/2006/relationships/notesSlide" Target="/ppt/notesSlides/notesSlide11.xml" Id="R16b68fd88d1c4d2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E2A"/>
        </a:solidFill>
      </p:bgPr>
    </p:bg>
    <p:spTree>
      <p:nvGrpSpPr>
        <p:cNvPr id="1" name=""/>
        <p:cNvGrpSpPr/>
        <p:nvPr/>
      </p:nvGrpSpPr>
      <p:grpSpPr/>
      <p:sp>
        <p:nvSpPr>
          <p:cNvPr id="100000" name="TopBar"/>
          <p:cNvSpPr txBox="1"/>
          <p:nvPr/>
        </p:nvSpPr>
        <p:spPr>
          <a:xfrm xmlns:a="http://schemas.openxmlformats.org/drawingml/2006/main">
            <a:off x="0" y="0"/>
            <a:ext cx="12193200" cy="2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01" name="Title"/>
          <p:cNvSpPr txBox="1"/>
          <p:nvPr/>
        </p:nvSpPr>
        <p:spPr>
          <a:xfrm xmlns:a="http://schemas.openxmlformats.org/drawingml/2006/main">
            <a:off x="540000" y="720000"/>
            <a:ext cx="1080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🚦 Smart Urban Traffic Forecestion System</a:t>
            </a:r>
          </a:p>
        </p:txBody>
      </p:sp>
      <p:sp>
        <p:nvSpPr>
          <p:cNvPr id="100002" name="Subtitle"/>
          <p:cNvSpPr txBox="1"/>
          <p:nvPr/>
        </p:nvSpPr>
        <p:spPr>
          <a:xfrm xmlns:a="http://schemas.openxmlformats.org/drawingml/2006/main">
            <a:off x="540000" y="1980000"/>
            <a:ext cx="1080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0">
                <a:solidFill>
                  <a:srgbClr val="F5A623"/>
                </a:solidFill>
                <a:latin typeface="Calibri"/>
                <a:ea typeface="Calibri"/>
              </a:rPr>
              <a:t>Congestion &amp; Resource Demand Forecasting with ML + Deep Learning</a:t>
            </a:r>
          </a:p>
        </p:txBody>
      </p:sp>
      <p:sp>
        <p:nvSpPr>
          <p:cNvPr id="100003" name="SDG"/>
          <p:cNvSpPr txBox="1"/>
          <p:nvPr/>
        </p:nvSpPr>
        <p:spPr>
          <a:xfrm xmlns:a="http://schemas.openxmlformats.org/drawingml/2006/main">
            <a:off x="540000" y="270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A0B4D0"/>
                </a:solidFill>
                <a:latin typeface="Calibri"/>
                <a:ea typeface="Calibri"/>
              </a:rPr>
              <a:t>SDG 11 — Sustainable Cities &amp; Communities</a:t>
            </a:r>
          </a:p>
        </p:txBody>
      </p:sp>
      <p:sp>
        <p:nvSpPr>
          <p:cNvPr id="100004" name="Dev"/>
          <p:cNvSpPr txBox="1"/>
          <p:nvPr/>
        </p:nvSpPr>
        <p:spPr>
          <a:xfrm xmlns:a="http://schemas.openxmlformats.org/drawingml/2006/main">
            <a:off x="540000" y="3240000"/>
            <a:ext cx="1080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7A9CBF"/>
                </a:solidFill>
                <a:latin typeface="Calibri"/>
                <a:ea typeface="Calibri"/>
              </a:rPr>
              <a:t>Developer: Mohini (@mohinibuilds)  |  Domain: Applied ML &amp; Predictive Analytics</a:t>
            </a:r>
          </a:p>
        </p:txBody>
      </p:sp>
      <p:sp>
        <p:nvSpPr>
          <p:cNvPr id="100005" name="BottomBar"/>
          <p:cNvSpPr txBox="1"/>
          <p:nvPr/>
        </p:nvSpPr>
        <p:spPr>
          <a:xfrm xmlns:a="http://schemas.openxmlformats.org/drawingml/2006/main">
            <a:off x="0" y="6660000"/>
            <a:ext cx="12193200" cy="2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1A2540"/>
              </a:solidFill>
            </a:endParaRP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6" name="TopBar"/>
          <p:cNvSpPr txBox="1"/>
          <p:nvPr/>
        </p:nvSpPr>
        <p:spPr>
          <a:xfrm xmlns:a="http://schemas.openxmlformats.org/drawingml/2006/main">
            <a:off x="0" y="0"/>
            <a:ext cx="121932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07" name="SlideNum"/>
          <p:cNvSpPr txBox="1"/>
          <p:nvPr/>
        </p:nvSpPr>
        <p:spPr>
          <a:xfrm xmlns:a="http://schemas.openxmlformats.org/drawingml/2006/main">
            <a:off x="10800000" y="288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BBBBBB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100008" name="Title"/>
          <p:cNvSpPr txBox="1"/>
          <p:nvPr/>
        </p:nvSpPr>
        <p:spPr>
          <a:xfrm xmlns:a="http://schemas.openxmlformats.org/drawingml/2006/main">
            <a:off x="540000" y="360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0A0E2A"/>
                </a:solidFill>
                <a:latin typeface="Calibri"/>
                <a:ea typeface="Calibri"/>
              </a:rPr>
              <a:t>Problem Statement</a:t>
            </a:r>
          </a:p>
        </p:txBody>
      </p:sp>
      <p:sp>
        <p:nvSpPr>
          <p:cNvPr id="100009" name="Divider"/>
          <p:cNvSpPr txBox="1"/>
          <p:nvPr/>
        </p:nvSpPr>
        <p:spPr>
          <a:xfrm xmlns:a="http://schemas.openxmlformats.org/drawingml/2006/main">
            <a:off x="540000" y="972000"/>
            <a:ext cx="1800000" cy="5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10" name="P1"/>
          <p:cNvSpPr txBox="1"/>
          <p:nvPr/>
        </p:nvSpPr>
        <p:spPr>
          <a:xfrm xmlns:a="http://schemas.openxmlformats.org/drawingml/2006/main">
            <a:off x="540000" y="1152000"/>
            <a:ext cx="10440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222222"/>
                </a:solidFill>
                <a:latin typeface="Calibri"/>
                <a:ea typeface="Calibri"/>
              </a:rPr>
              <a:t>❌  Urban traffic congestion costs cities BILLIONS every year in lost productivity</a:t>
            </a:r>
          </a:p>
        </p:txBody>
      </p:sp>
      <p:sp>
        <p:nvSpPr>
          <p:cNvPr id="100011" name="P2"/>
          <p:cNvSpPr txBox="1"/>
          <p:nvPr/>
        </p:nvSpPr>
        <p:spPr>
          <a:xfrm xmlns:a="http://schemas.openxmlformats.org/drawingml/2006/main">
            <a:off x="540000" y="1620000"/>
            <a:ext cx="10440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222222"/>
                </a:solidFill>
                <a:latin typeface="Calibri"/>
                <a:ea typeface="Calibri"/>
              </a:rPr>
              <a:t>❌  Traffic controllers have NO advance warning of upcoming congestion</a:t>
            </a:r>
          </a:p>
        </p:txBody>
      </p:sp>
      <p:sp>
        <p:nvSpPr>
          <p:cNvPr id="100012" name="P3"/>
          <p:cNvSpPr txBox="1"/>
          <p:nvPr/>
        </p:nvSpPr>
        <p:spPr>
          <a:xfrm xmlns:a="http://schemas.openxmlformats.org/drawingml/2006/main">
            <a:off x="540000" y="2088000"/>
            <a:ext cx="10440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222222"/>
                </a:solidFill>
                <a:latin typeface="Calibri"/>
                <a:ea typeface="Calibri"/>
              </a:rPr>
              <a:t>❌  Excessive vehicle idling increases CO₂ and NOx greenhouse gas emissions</a:t>
            </a:r>
          </a:p>
        </p:txBody>
      </p:sp>
      <p:sp>
        <p:nvSpPr>
          <p:cNvPr id="100013" name="P4"/>
          <p:cNvSpPr txBox="1"/>
          <p:nvPr/>
        </p:nvSpPr>
        <p:spPr>
          <a:xfrm xmlns:a="http://schemas.openxmlformats.org/drawingml/2006/main">
            <a:off x="540000" y="2556000"/>
            <a:ext cx="10440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222222"/>
                </a:solidFill>
                <a:latin typeface="Calibri"/>
                <a:ea typeface="Calibri"/>
              </a:rPr>
              <a:t>❌  Current systems are REACTIVE — they respond only AFTER congestion happens</a:t>
            </a:r>
          </a:p>
        </p:txBody>
      </p:sp>
      <p:sp>
        <p:nvSpPr>
          <p:cNvPr id="100014" name="P5"/>
          <p:cNvSpPr txBox="1"/>
          <p:nvPr/>
        </p:nvSpPr>
        <p:spPr>
          <a:xfrm xmlns:a="http://schemas.openxmlformats.org/drawingml/2006/main">
            <a:off x="540000" y="3024000"/>
            <a:ext cx="10440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222222"/>
                </a:solidFill>
                <a:latin typeface="Calibri"/>
                <a:ea typeface="Calibri"/>
              </a:rPr>
              <a:t>❌  No data-driven tool for municipal traffic resource allocation</a:t>
            </a:r>
          </a:p>
        </p:txBody>
      </p:sp>
      <p:sp>
        <p:nvSpPr>
          <p:cNvPr id="100015" name="Footer"/>
          <p:cNvSpPr txBox="1"/>
          <p:nvPr/>
        </p:nvSpPr>
        <p:spPr>
          <a:xfrm xmlns:a="http://schemas.openxmlformats.org/drawingml/2006/main">
            <a:off x="0" y="6660000"/>
            <a:ext cx="12193200" cy="2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2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FFFFFF"/>
                </a:solidFill>
                <a:latin typeface="Calibri"/>
                <a:ea typeface="Calibri"/>
              </a:rPr>
              <a:t>Smart Urban Traffic Forecasting System  |  SDG 11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E2A"/>
        </a:solidFill>
      </p:bgPr>
    </p:bg>
    <p:spTree>
      <p:nvGrpSpPr>
        <p:cNvPr id="1" name=""/>
        <p:cNvGrpSpPr/>
        <p:nvPr/>
      </p:nvGrpSpPr>
      <p:grpSpPr/>
      <p:sp>
        <p:nvSpPr>
          <p:cNvPr id="100016" name="TopBar"/>
          <p:cNvSpPr txBox="1"/>
          <p:nvPr/>
        </p:nvSpPr>
        <p:spPr>
          <a:xfrm xmlns:a="http://schemas.openxmlformats.org/drawingml/2006/main">
            <a:off x="0" y="0"/>
            <a:ext cx="121932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17" name="SlideNum"/>
          <p:cNvSpPr txBox="1"/>
          <p:nvPr/>
        </p:nvSpPr>
        <p:spPr>
          <a:xfrm xmlns:a="http://schemas.openxmlformats.org/drawingml/2006/main">
            <a:off x="10800000" y="288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555555"/>
                </a:solidFill>
                <a:latin typeface="Calibri"/>
                <a:ea typeface="Calibri"/>
              </a:rPr>
              <a:t>03</a:t>
            </a:r>
          </a:p>
        </p:txBody>
      </p:sp>
      <p:sp>
        <p:nvSpPr>
          <p:cNvPr id="100018" name="Title"/>
          <p:cNvSpPr txBox="1"/>
          <p:nvPr/>
        </p:nvSpPr>
        <p:spPr>
          <a:xfrm xmlns:a="http://schemas.openxmlformats.org/drawingml/2006/main">
            <a:off x="540000" y="360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Our Solution</a:t>
            </a:r>
          </a:p>
        </p:txBody>
      </p:sp>
      <p:sp>
        <p:nvSpPr>
          <p:cNvPr id="100019" name="Divider"/>
          <p:cNvSpPr txBox="1"/>
          <p:nvPr/>
        </p:nvSpPr>
        <p:spPr>
          <a:xfrm xmlns:a="http://schemas.openxmlformats.org/drawingml/2006/main">
            <a:off x="540000" y="972000"/>
            <a:ext cx="1800000" cy="5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20" name="S1"/>
          <p:cNvSpPr txBox="1"/>
          <p:nvPr/>
        </p:nvSpPr>
        <p:spPr>
          <a:xfrm xmlns:a="http://schemas.openxmlformats.org/drawingml/2006/main">
            <a:off x="540000" y="1152000"/>
            <a:ext cx="10440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E0E8F0"/>
                </a:solidFill>
                <a:latin typeface="Calibri"/>
                <a:ea typeface="Calibri"/>
              </a:rPr>
              <a:t>✅  Predicts traffic volume 2 to 4 hours in advance</a:t>
            </a:r>
          </a:p>
        </p:txBody>
      </p:sp>
      <p:sp>
        <p:nvSpPr>
          <p:cNvPr id="100021" name="S2"/>
          <p:cNvSpPr txBox="1"/>
          <p:nvPr/>
        </p:nvSpPr>
        <p:spPr>
          <a:xfrm xmlns:a="http://schemas.openxmlformats.org/drawingml/2006/main">
            <a:off x="540000" y="1620000"/>
            <a:ext cx="10440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E0E8F0"/>
                </a:solidFill>
                <a:latin typeface="Calibri"/>
                <a:ea typeface="Calibri"/>
              </a:rPr>
              <a:t>✅  Classifies congestion severity as Low, Medium, or High</a:t>
            </a:r>
          </a:p>
        </p:txBody>
      </p:sp>
      <p:sp>
        <p:nvSpPr>
          <p:cNvPr id="100022" name="S3"/>
          <p:cNvSpPr txBox="1"/>
          <p:nvPr/>
        </p:nvSpPr>
        <p:spPr>
          <a:xfrm xmlns:a="http://schemas.openxmlformats.org/drawingml/2006/main">
            <a:off x="540000" y="2088000"/>
            <a:ext cx="10440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E0E8F0"/>
                </a:solidFill>
                <a:latin typeface="Calibri"/>
                <a:ea typeface="Calibri"/>
              </a:rPr>
              <a:t>✅  Recommends automated re-routing strategies for municipal authorities</a:t>
            </a:r>
          </a:p>
        </p:txBody>
      </p:sp>
      <p:sp>
        <p:nvSpPr>
          <p:cNvPr id="100023" name="S4"/>
          <p:cNvSpPr txBox="1"/>
          <p:nvPr/>
        </p:nvSpPr>
        <p:spPr>
          <a:xfrm xmlns:a="http://schemas.openxmlformats.org/drawingml/2006/main">
            <a:off x="540000" y="2556000"/>
            <a:ext cx="10440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E0E8F0"/>
                </a:solidFill>
                <a:latin typeface="Calibri"/>
                <a:ea typeface="Calibri"/>
              </a:rPr>
              <a:t>✅  Interactive Streamlit dashboard with real-time alerts &amp; heatmap</a:t>
            </a:r>
          </a:p>
        </p:txBody>
      </p:sp>
      <p:sp>
        <p:nvSpPr>
          <p:cNvPr id="100024" name="S5"/>
          <p:cNvSpPr txBox="1"/>
          <p:nvPr/>
        </p:nvSpPr>
        <p:spPr>
          <a:xfrm xmlns:a="http://schemas.openxmlformats.org/drawingml/2006/main">
            <a:off x="540000" y="3024000"/>
            <a:ext cx="10440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E0E8F0"/>
                </a:solidFill>
                <a:latin typeface="Calibri"/>
                <a:ea typeface="Calibri"/>
              </a:rPr>
              <a:t>✅  Covers 10 road segments with hourly spatial-temporal data</a:t>
            </a:r>
          </a:p>
        </p:txBody>
      </p:sp>
      <p:sp>
        <p:nvSpPr>
          <p:cNvPr id="100025" name="S6"/>
          <p:cNvSpPr txBox="1"/>
          <p:nvPr/>
        </p:nvSpPr>
        <p:spPr>
          <a:xfrm xmlns:a="http://schemas.openxmlformats.org/drawingml/2006/main">
            <a:off x="540000" y="3492000"/>
            <a:ext cx="10440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E0E8F0"/>
                </a:solidFill>
                <a:latin typeface="Calibri"/>
                <a:ea typeface="Calibri"/>
              </a:rPr>
              <a:t>✅  Trained on 87,600 rows of traffic, speed, and weather data</a:t>
            </a:r>
          </a:p>
        </p:txBody>
      </p:sp>
      <p:sp>
        <p:nvSpPr>
          <p:cNvPr id="100026" name="Footer"/>
          <p:cNvSpPr txBox="1"/>
          <p:nvPr/>
        </p:nvSpPr>
        <p:spPr>
          <a:xfrm xmlns:a="http://schemas.openxmlformats.org/drawingml/2006/main">
            <a:off x="0" y="6660000"/>
            <a:ext cx="12193200" cy="2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FFFFFF"/>
                </a:solidFill>
                <a:latin typeface="Calibri"/>
                <a:ea typeface="Calibri"/>
              </a:rPr>
              <a:t>Smart Urban Traffic Forecasting System  |  SDG 11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27" name="TopBar"/>
          <p:cNvSpPr txBox="1"/>
          <p:nvPr/>
        </p:nvSpPr>
        <p:spPr>
          <a:xfrm xmlns:a="http://schemas.openxmlformats.org/drawingml/2006/main">
            <a:off x="0" y="0"/>
            <a:ext cx="121932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28" name="Title"/>
          <p:cNvSpPr txBox="1"/>
          <p:nvPr/>
        </p:nvSpPr>
        <p:spPr>
          <a:xfrm xmlns:a="http://schemas.openxmlformats.org/drawingml/2006/main">
            <a:off x="540000" y="360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0A0E2A"/>
                </a:solidFill>
                <a:latin typeface="Calibri"/>
                <a:ea typeface="Calibri"/>
              </a:rPr>
              <a:t>Tech Stack &amp; Tools</a:t>
            </a:r>
          </a:p>
        </p:txBody>
      </p:sp>
      <p:sp>
        <p:nvSpPr>
          <p:cNvPr id="100029" name="Divider"/>
          <p:cNvSpPr txBox="1"/>
          <p:nvPr/>
        </p:nvSpPr>
        <p:spPr>
          <a:xfrm xmlns:a="http://schemas.openxmlformats.org/drawingml/2006/main">
            <a:off x="540000" y="972000"/>
            <a:ext cx="1800000" cy="5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30" name="Box1"/>
          <p:cNvSpPr txBox="1"/>
          <p:nvPr/>
        </p:nvSpPr>
        <p:spPr>
          <a:xfrm xmlns:a="http://schemas.openxmlformats.org/drawingml/2006/main">
            <a:off x="540000" y="1152000"/>
            <a:ext cx="2700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🐍 Language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Python 3.x</a:t>
            </a:r>
          </a:p>
        </p:txBody>
      </p:sp>
      <p:sp>
        <p:nvSpPr>
          <p:cNvPr id="100031" name="Box2"/>
          <p:cNvSpPr txBox="1"/>
          <p:nvPr/>
        </p:nvSpPr>
        <p:spPr>
          <a:xfrm xmlns:a="http://schemas.openxmlformats.org/drawingml/2006/main">
            <a:off x="3600000" y="1152000"/>
            <a:ext cx="2700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📊 Data Processing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pandas  |  numpy</a:t>
            </a:r>
          </a:p>
        </p:txBody>
      </p:sp>
      <p:sp>
        <p:nvSpPr>
          <p:cNvPr id="100032" name="Box3"/>
          <p:cNvSpPr txBox="1"/>
          <p:nvPr/>
        </p:nvSpPr>
        <p:spPr>
          <a:xfrm xmlns:a="http://schemas.openxmlformats.org/drawingml/2006/main">
            <a:off x="6660000" y="1152000"/>
            <a:ext cx="2700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🤖 Machine Learning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scikit-learn  |  XGBoost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Random Forest</a:t>
            </a:r>
          </a:p>
        </p:txBody>
      </p:sp>
      <p:sp>
        <p:nvSpPr>
          <p:cNvPr id="100033" name="Box4"/>
          <p:cNvSpPr txBox="1"/>
          <p:nvPr/>
        </p:nvSpPr>
        <p:spPr>
          <a:xfrm xmlns:a="http://schemas.openxmlformats.org/drawingml/2006/main">
            <a:off x="540000" y="2340000"/>
            <a:ext cx="2700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🧠 Deep Learning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TensorFlow  |  Keras LSTM</a:t>
            </a:r>
          </a:p>
        </p:txBody>
      </p:sp>
      <p:sp>
        <p:nvSpPr>
          <p:cNvPr id="100034" name="Box5"/>
          <p:cNvSpPr txBox="1"/>
          <p:nvPr/>
        </p:nvSpPr>
        <p:spPr>
          <a:xfrm xmlns:a="http://schemas.openxmlformats.org/drawingml/2006/main">
            <a:off x="3600000" y="2340000"/>
            <a:ext cx="2700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📈 Visualization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matplotlib  |  seaborn</a:t>
            </a:r>
          </a:p>
        </p:txBody>
      </p:sp>
      <p:sp>
        <p:nvSpPr>
          <p:cNvPr id="100035" name="Box6"/>
          <p:cNvSpPr txBox="1"/>
          <p:nvPr/>
        </p:nvSpPr>
        <p:spPr>
          <a:xfrm xmlns:a="http://schemas.openxmlformats.org/drawingml/2006/main">
            <a:off x="6660000" y="2340000"/>
            <a:ext cx="2700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🗺️ Mapping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Folium Heatmaps</a:t>
            </a:r>
          </a:p>
        </p:txBody>
      </p:sp>
      <p:sp>
        <p:nvSpPr>
          <p:cNvPr id="100036" name="Box7"/>
          <p:cNvSpPr txBox="1"/>
          <p:nvPr/>
        </p:nvSpPr>
        <p:spPr>
          <a:xfrm xmlns:a="http://schemas.openxmlformats.org/drawingml/2006/main">
            <a:off x="540000" y="3528000"/>
            <a:ext cx="2700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🌐 Dashboard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Streamlit</a:t>
            </a:r>
          </a:p>
        </p:txBody>
      </p:sp>
      <p:sp>
        <p:nvSpPr>
          <p:cNvPr id="100037" name="Box8"/>
          <p:cNvSpPr txBox="1"/>
          <p:nvPr/>
        </p:nvSpPr>
        <p:spPr>
          <a:xfrm xmlns:a="http://schemas.openxmlformats.org/drawingml/2006/main">
            <a:off x="3600000" y="3528000"/>
            <a:ext cx="2700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💾 Model Saving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joblib</a:t>
            </a:r>
          </a:p>
        </p:txBody>
      </p:sp>
      <p:sp>
        <p:nvSpPr>
          <p:cNvPr id="100038" name="Box9"/>
          <p:cNvSpPr txBox="1"/>
          <p:nvPr/>
        </p:nvSpPr>
        <p:spPr>
          <a:xfrm xmlns:a="http://schemas.openxmlformats.org/drawingml/2006/main">
            <a:off x="6660000" y="3528000"/>
            <a:ext cx="2700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📂 Version Control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Git + GitHub</a:t>
            </a:r>
          </a:p>
        </p:txBody>
      </p:sp>
      <p:sp>
        <p:nvSpPr>
          <p:cNvPr id="100039" name="Footer"/>
          <p:cNvSpPr txBox="1"/>
          <p:nvPr/>
        </p:nvSpPr>
        <p:spPr>
          <a:xfrm xmlns:a="http://schemas.openxmlformats.org/drawingml/2006/main">
            <a:off x="0" y="6660000"/>
            <a:ext cx="12193200" cy="2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2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FFFFFF"/>
                </a:solidFill>
                <a:latin typeface="Calibri"/>
                <a:ea typeface="Calibri"/>
              </a:rPr>
              <a:t>Smart Urban Traffic Forecasting System  |  SDG 11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E2A"/>
        </a:solidFill>
      </p:bgPr>
    </p:bg>
    <p:spTree>
      <p:nvGrpSpPr>
        <p:cNvPr id="1" name=""/>
        <p:cNvGrpSpPr/>
        <p:nvPr/>
      </p:nvGrpSpPr>
      <p:grpSpPr/>
      <p:sp>
        <p:nvSpPr>
          <p:cNvPr id="100040" name="TopBar"/>
          <p:cNvSpPr txBox="1"/>
          <p:nvPr/>
        </p:nvSpPr>
        <p:spPr>
          <a:xfrm xmlns:a="http://schemas.openxmlformats.org/drawingml/2006/main">
            <a:off x="0" y="0"/>
            <a:ext cx="121932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41" name="Title"/>
          <p:cNvSpPr txBox="1"/>
          <p:nvPr/>
        </p:nvSpPr>
        <p:spPr>
          <a:xfrm xmlns:a="http://schemas.openxmlformats.org/drawingml/2006/main">
            <a:off x="540000" y="360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Technical Workflow</a:t>
            </a:r>
          </a:p>
        </p:txBody>
      </p:sp>
      <p:sp>
        <p:nvSpPr>
          <p:cNvPr id="100042" name="Divider"/>
          <p:cNvSpPr txBox="1"/>
          <p:nvPr/>
        </p:nvSpPr>
        <p:spPr>
          <a:xfrm xmlns:a="http://schemas.openxmlformats.org/drawingml/2006/main">
            <a:off x="540000" y="972000"/>
            <a:ext cx="1800000" cy="5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43" name="Step1"/>
          <p:cNvSpPr txBox="1"/>
          <p:nvPr/>
        </p:nvSpPr>
        <p:spPr>
          <a:xfrm xmlns:a="http://schemas.openxmlformats.org/drawingml/2006/main">
            <a:off x="360000" y="1260000"/>
            <a:ext cx="198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0A0E2A"/>
                </a:solidFill>
                <a:latin typeface="Calibri"/>
                <a:ea typeface="Calibri"/>
              </a:rPr>
              <a:t>1️⃣</a:t>
            </a:r>
          </a:p>
          <a:p xmlns:a="http://schemas.openxmlformats.org/drawingml/2006/main">
            <a:r>
              <a:rPr lang="en-US" sz="1400" b="0">
                <a:solidFill>
                  <a:srgbClr val="0A0E2A"/>
                </a:solidFill>
                <a:latin typeface="Calibri"/>
                <a:ea typeface="Calibri"/>
              </a:rPr>
              <a:t>DATA</a:t>
            </a:r>
          </a:p>
          <a:p xmlns:a="http://schemas.openxmlformats.org/drawingml/2006/main">
            <a:r>
              <a:rPr lang="en-US" sz="1400" b="0">
                <a:solidFill>
                  <a:srgbClr val="0A0E2A"/>
                </a:solidFill>
                <a:latin typeface="Calibri"/>
                <a:ea typeface="Calibri"/>
              </a:rPr>
              <a:t>COLLECTION</a:t>
            </a:r>
          </a:p>
          <a:p xmlns:a="http://schemas.openxmlformats.org/drawingml/2006/main">
            <a:r>
              <a:rPr lang="en-US" sz="1400" b="0">
                <a:solidFill>
                  <a:srgbClr val="0A0E2A"/>
                </a:solidFill>
                <a:latin typeface="Calibri"/>
                <a:ea typeface="Calibri"/>
              </a:rPr>
              <a:t>87,600 rows</a:t>
            </a:r>
          </a:p>
          <a:p xmlns:a="http://schemas.openxmlformats.org/drawingml/2006/main">
            <a:r>
              <a:rPr lang="en-US" sz="1400" b="0">
                <a:solidFill>
                  <a:srgbClr val="0A0E2A"/>
                </a:solidFill>
                <a:latin typeface="Calibri"/>
                <a:ea typeface="Calibri"/>
              </a:rPr>
              <a:t>10 segments</a:t>
            </a:r>
          </a:p>
          <a:p xmlns:a="http://schemas.openxmlformats.org/drawingml/2006/main">
            <a:r>
              <a:rPr lang="en-US" sz="1400" b="0">
                <a:solidFill>
                  <a:srgbClr val="0A0E2A"/>
                </a:solidFill>
                <a:latin typeface="Calibri"/>
                <a:ea typeface="Calibri"/>
              </a:rPr>
              <a:t>365 days</a:t>
            </a:r>
          </a:p>
        </p:txBody>
      </p:sp>
      <p:sp>
        <p:nvSpPr>
          <p:cNvPr id="100044" name="Arr1"/>
          <p:cNvSpPr txBox="1"/>
          <p:nvPr/>
        </p:nvSpPr>
        <p:spPr>
          <a:xfrm xmlns:a="http://schemas.openxmlformats.org/drawingml/2006/main">
            <a:off x="2520000" y="2088000"/>
            <a:ext cx="54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A623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00045" name="Step2"/>
          <p:cNvSpPr txBox="1"/>
          <p:nvPr/>
        </p:nvSpPr>
        <p:spPr>
          <a:xfrm xmlns:a="http://schemas.openxmlformats.org/drawingml/2006/main">
            <a:off x="3168000" y="1260000"/>
            <a:ext cx="198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A6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2️⃣</a:t>
            </a:r>
          </a:p>
          <a:p xmlns:a="http://schemas.openxmlformats.org/drawingml/2006/main"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PRE-</a:t>
            </a:r>
          </a:p>
          <a:p xmlns:a="http://schemas.openxmlformats.org/drawingml/2006/main"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PROCESSING</a:t>
            </a:r>
          </a:p>
          <a:p xmlns:a="http://schemas.openxmlformats.org/drawingml/2006/main"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Interpolation</a:t>
            </a:r>
          </a:p>
          <a:p xmlns:a="http://schemas.openxmlformats.org/drawingml/2006/main"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Cyclical Enc.</a:t>
            </a:r>
          </a:p>
          <a:p xmlns:a="http://schemas.openxmlformats.org/drawingml/2006/main"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Scaling</a:t>
            </a:r>
          </a:p>
        </p:txBody>
      </p:sp>
      <p:sp>
        <p:nvSpPr>
          <p:cNvPr id="100046" name="Arr2"/>
          <p:cNvSpPr txBox="1"/>
          <p:nvPr/>
        </p:nvSpPr>
        <p:spPr>
          <a:xfrm xmlns:a="http://schemas.openxmlformats.org/drawingml/2006/main">
            <a:off x="5328000" y="2088000"/>
            <a:ext cx="54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A623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00047" name="Step3"/>
          <p:cNvSpPr txBox="1"/>
          <p:nvPr/>
        </p:nvSpPr>
        <p:spPr>
          <a:xfrm xmlns:a="http://schemas.openxmlformats.org/drawingml/2006/main">
            <a:off x="5940000" y="1260000"/>
            <a:ext cx="198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0A0E2A"/>
                </a:solidFill>
                <a:latin typeface="Calibri"/>
                <a:ea typeface="Calibri"/>
              </a:rPr>
              <a:t>3️⃣</a:t>
            </a:r>
          </a:p>
          <a:p xmlns:a="http://schemas.openxmlformats.org/drawingml/2006/main">
            <a:r>
              <a:rPr lang="en-US" sz="1400" b="0">
                <a:solidFill>
                  <a:srgbClr val="0A0E2A"/>
                </a:solidFill>
                <a:latin typeface="Calibri"/>
                <a:ea typeface="Calibri"/>
              </a:rPr>
              <a:t>FEATURE</a:t>
            </a:r>
          </a:p>
          <a:p xmlns:a="http://schemas.openxmlformats.org/drawingml/2006/main">
            <a:r>
              <a:rPr lang="en-US" sz="1400" b="0">
                <a:solidFill>
                  <a:srgbClr val="0A0E2A"/>
                </a:solidFill>
                <a:latin typeface="Calibri"/>
                <a:ea typeface="Calibri"/>
              </a:rPr>
              <a:t>ENGINEERING</a:t>
            </a:r>
          </a:p>
          <a:p xmlns:a="http://schemas.openxmlformats.org/drawingml/2006/main">
            <a:r>
              <a:rPr lang="en-US" sz="1400" b="0">
                <a:solidFill>
                  <a:srgbClr val="0A0E2A"/>
                </a:solidFill>
                <a:latin typeface="Calibri"/>
                <a:ea typeface="Calibri"/>
              </a:rPr>
              <a:t>Lag Features</a:t>
            </a:r>
          </a:p>
          <a:p xmlns:a="http://schemas.openxmlformats.org/drawingml/2006/main">
            <a:r>
              <a:rPr lang="en-US" sz="1400" b="0">
                <a:solidFill>
                  <a:srgbClr val="0A0E2A"/>
                </a:solidFill>
                <a:latin typeface="Calibri"/>
                <a:ea typeface="Calibri"/>
              </a:rPr>
              <a:t>Rolling Stats</a:t>
            </a:r>
          </a:p>
          <a:p xmlns:a="http://schemas.openxmlformats.org/drawingml/2006/main">
            <a:r>
              <a:rPr lang="en-US" sz="1400" b="0">
                <a:solidFill>
                  <a:srgbClr val="0A0E2A"/>
                </a:solidFill>
                <a:latin typeface="Calibri"/>
                <a:ea typeface="Calibri"/>
              </a:rPr>
              <a:t>Weather</a:t>
            </a:r>
          </a:p>
        </p:txBody>
      </p:sp>
      <p:sp>
        <p:nvSpPr>
          <p:cNvPr id="100048" name="Arr3"/>
          <p:cNvSpPr txBox="1"/>
          <p:nvPr/>
        </p:nvSpPr>
        <p:spPr>
          <a:xfrm xmlns:a="http://schemas.openxmlformats.org/drawingml/2006/main">
            <a:off x="8100000" y="2088000"/>
            <a:ext cx="54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A623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00049" name="Step4"/>
          <p:cNvSpPr txBox="1"/>
          <p:nvPr/>
        </p:nvSpPr>
        <p:spPr>
          <a:xfrm xmlns:a="http://schemas.openxmlformats.org/drawingml/2006/main">
            <a:off x="8712000" y="1260000"/>
            <a:ext cx="198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A6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4️⃣</a:t>
            </a:r>
          </a:p>
          <a:p xmlns:a="http://schemas.openxmlformats.org/drawingml/2006/main"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ML MODELS</a:t>
            </a:r>
          </a:p>
          <a:p xmlns:a="http://schemas.openxmlformats.org/drawingml/2006/main"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Random Forest</a:t>
            </a:r>
          </a:p>
          <a:p xmlns:a="http://schemas.openxmlformats.org/drawingml/2006/main"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XGBoost</a:t>
            </a:r>
          </a:p>
          <a:p xmlns:a="http://schemas.openxmlformats.org/drawingml/2006/main"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LSTM</a:t>
            </a:r>
          </a:p>
        </p:txBody>
      </p:sp>
      <p:sp>
        <p:nvSpPr>
          <p:cNvPr id="100050" name="Arr4"/>
          <p:cNvSpPr txBox="1"/>
          <p:nvPr/>
        </p:nvSpPr>
        <p:spPr>
          <a:xfrm xmlns:a="http://schemas.openxmlformats.org/drawingml/2006/main">
            <a:off x="10872000" y="2088000"/>
            <a:ext cx="54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A623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00051" name="Step5"/>
          <p:cNvSpPr txBox="1"/>
          <p:nvPr/>
        </p:nvSpPr>
        <p:spPr>
          <a:xfrm xmlns:a="http://schemas.openxmlformats.org/drawingml/2006/main">
            <a:off x="11520000" y="1260000"/>
            <a:ext cx="54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000" b="0">
                <a:solidFill>
                  <a:srgbClr val="0A0E2A"/>
                </a:solidFill>
                <a:latin typeface="Calibri"/>
                <a:ea typeface="Calibri"/>
              </a:rPr>
              <a:t>5️⃣</a:t>
            </a:r>
          </a:p>
          <a:p xmlns:a="http://schemas.openxmlformats.org/drawingml/2006/main">
            <a:r>
              <a:rPr lang="en-US" sz="1000" b="0">
                <a:solidFill>
                  <a:srgbClr val="0A0E2A"/>
                </a:solidFill>
                <a:latin typeface="Calibri"/>
                <a:ea typeface="Calibri"/>
              </a:rPr>
              <a:t>DASHBOARD</a:t>
            </a:r>
          </a:p>
          <a:p xmlns:a="http://schemas.openxmlformats.org/drawingml/2006/main">
            <a:r>
              <a:rPr lang="en-US" sz="1000" b="0">
                <a:solidFill>
                  <a:srgbClr val="0A0E2A"/>
                </a:solidFill>
                <a:latin typeface="Calibri"/>
                <a:ea typeface="Calibri"/>
              </a:rPr>
              <a:t>&amp; ALERTS</a:t>
            </a:r>
          </a:p>
          <a:p xmlns:a="http://schemas.openxmlformats.org/drawingml/2006/main">
            <a:r>
              <a:rPr lang="en-US" sz="1000" b="0">
                <a:solidFill>
                  <a:srgbClr val="0A0E2A"/>
                </a:solidFill>
                <a:latin typeface="Calibri"/>
                <a:ea typeface="Calibri"/>
              </a:rPr>
              <a:t>Forecasts</a:t>
            </a:r>
          </a:p>
          <a:p xmlns:a="http://schemas.openxmlformats.org/drawingml/2006/main">
            <a:r>
              <a:rPr lang="en-US" sz="1000" b="0">
                <a:solidFill>
                  <a:srgbClr val="0A0E2A"/>
                </a:solidFill>
                <a:latin typeface="Calibri"/>
                <a:ea typeface="Calibri"/>
              </a:rPr>
              <a:t>Heatmap</a:t>
            </a:r>
          </a:p>
          <a:p xmlns:a="http://schemas.openxmlformats.org/drawingml/2006/main">
            <a:r>
              <a:rPr lang="en-US" sz="1000" b="0">
                <a:solidFill>
                  <a:srgbClr val="0A0E2A"/>
                </a:solidFill>
                <a:latin typeface="Calibri"/>
                <a:ea typeface="Calibri"/>
              </a:rPr>
              <a:t>Re-routing</a:t>
            </a:r>
          </a:p>
        </p:txBody>
      </p:sp>
      <p:sp>
        <p:nvSpPr>
          <p:cNvPr id="100052" name="Footer"/>
          <p:cNvSpPr txBox="1"/>
          <p:nvPr/>
        </p:nvSpPr>
        <p:spPr>
          <a:xfrm xmlns:a="http://schemas.openxmlformats.org/drawingml/2006/main">
            <a:off x="0" y="6660000"/>
            <a:ext cx="12193200" cy="2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FFFFFF"/>
                </a:solidFill>
                <a:latin typeface="Calibri"/>
                <a:ea typeface="Calibri"/>
              </a:rPr>
              <a:t>Smart Urban Traffic Forecasting System  |  SDG 11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53" name="TopBar"/>
          <p:cNvSpPr txBox="1"/>
          <p:nvPr/>
        </p:nvSpPr>
        <p:spPr>
          <a:xfrm xmlns:a="http://schemas.openxmlformats.org/drawingml/2006/main">
            <a:off x="0" y="0"/>
            <a:ext cx="121932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54" name="Title"/>
          <p:cNvSpPr txBox="1"/>
          <p:nvPr/>
        </p:nvSpPr>
        <p:spPr>
          <a:xfrm xmlns:a="http://schemas.openxmlformats.org/drawingml/2006/main">
            <a:off x="540000" y="360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0A0E2A"/>
                </a:solidFill>
                <a:latin typeface="Calibri"/>
                <a:ea typeface="Calibri"/>
              </a:rPr>
              <a:t>Feature Engineering</a:t>
            </a:r>
          </a:p>
        </p:txBody>
      </p:sp>
      <p:sp>
        <p:nvSpPr>
          <p:cNvPr id="100055" name="Divider"/>
          <p:cNvSpPr txBox="1"/>
          <p:nvPr/>
        </p:nvSpPr>
        <p:spPr>
          <a:xfrm xmlns:a="http://schemas.openxmlformats.org/drawingml/2006/main">
            <a:off x="540000" y="972000"/>
            <a:ext cx="1800000" cy="5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56" name="F1Title"/>
          <p:cNvSpPr txBox="1"/>
          <p:nvPr/>
        </p:nvSpPr>
        <p:spPr>
          <a:xfrm xmlns:a="http://schemas.openxmlformats.org/drawingml/2006/main">
            <a:off x="540000" y="1152000"/>
            <a:ext cx="1044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A0E2A"/>
                </a:solidFill>
                <a:latin typeface="Calibri"/>
                <a:ea typeface="Calibri"/>
              </a:rPr>
              <a:t>📌 Lag Features (Historical Patterns)</a:t>
            </a:r>
          </a:p>
        </p:txBody>
      </p:sp>
      <p:sp>
        <p:nvSpPr>
          <p:cNvPr id="100057" name="F1Body"/>
          <p:cNvSpPr txBox="1"/>
          <p:nvPr/>
        </p:nvSpPr>
        <p:spPr>
          <a:xfrm xmlns:a="http://schemas.openxmlformats.org/drawingml/2006/main">
            <a:off x="720000" y="1512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• Vehicle volume at t-1, t-2, t-3 hours</a:t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• Vehicle volume at t-24 hours (same time yesterday)</a:t>
            </a:r>
          </a:p>
        </p:txBody>
      </p:sp>
      <p:sp>
        <p:nvSpPr>
          <p:cNvPr id="100058" name="F2Title"/>
          <p:cNvSpPr txBox="1"/>
          <p:nvPr/>
        </p:nvSpPr>
        <p:spPr>
          <a:xfrm xmlns:a="http://schemas.openxmlformats.org/drawingml/2006/main">
            <a:off x="540000" y="2160000"/>
            <a:ext cx="1044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A0E2A"/>
                </a:solidFill>
                <a:latin typeface="Calibri"/>
                <a:ea typeface="Calibri"/>
              </a:rPr>
              <a:t>📌 Rolling Window Statistics</a:t>
            </a:r>
          </a:p>
        </p:txBody>
      </p:sp>
      <p:sp>
        <p:nvSpPr>
          <p:cNvPr id="100059" name="F2Body"/>
          <p:cNvSpPr txBox="1"/>
          <p:nvPr/>
        </p:nvSpPr>
        <p:spPr>
          <a:xfrm xmlns:a="http://schemas.openxmlformats.org/drawingml/2006/main">
            <a:off x="720000" y="2520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• 3-hour, 6-hour, 24-hour moving average</a:t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• 3-hour, 6-hour, 24-hour rolling standard deviation</a:t>
            </a:r>
          </a:p>
        </p:txBody>
      </p:sp>
      <p:sp>
        <p:nvSpPr>
          <p:cNvPr id="100060" name="F3Title"/>
          <p:cNvSpPr txBox="1"/>
          <p:nvPr/>
        </p:nvSpPr>
        <p:spPr>
          <a:xfrm xmlns:a="http://schemas.openxmlformats.org/drawingml/2006/main">
            <a:off x="540000" y="3168000"/>
            <a:ext cx="1044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A0E2A"/>
                </a:solidFill>
                <a:latin typeface="Calibri"/>
                <a:ea typeface="Calibri"/>
              </a:rPr>
              <a:t>📌 Cyclical Time Encoding (Sine / Cosine)</a:t>
            </a:r>
          </a:p>
        </p:txBody>
      </p:sp>
      <p:sp>
        <p:nvSpPr>
          <p:cNvPr id="100061" name="F3Body"/>
          <p:cNvSpPr txBox="1"/>
          <p:nvPr/>
        </p:nvSpPr>
        <p:spPr>
          <a:xfrm xmlns:a="http://schemas.openxmlformats.org/drawingml/2006/main">
            <a:off x="720000" y="3528000"/>
            <a:ext cx="1008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• Hour of day (period = 24)  •  Day of week (period = 7)  •  Month of year (period = 12)</a:t>
            </a:r>
          </a:p>
        </p:txBody>
      </p:sp>
      <p:sp>
        <p:nvSpPr>
          <p:cNvPr id="100062" name="F4Title"/>
          <p:cNvSpPr txBox="1"/>
          <p:nvPr/>
        </p:nvSpPr>
        <p:spPr>
          <a:xfrm xmlns:a="http://schemas.openxmlformats.org/drawingml/2006/main">
            <a:off x="540000" y="4032000"/>
            <a:ext cx="1044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A0E2A"/>
                </a:solidFill>
                <a:latin typeface="Calibri"/>
                <a:ea typeface="Calibri"/>
              </a:rPr>
              <a:t>📌 Weather Parameters</a:t>
            </a:r>
          </a:p>
        </p:txBody>
      </p:sp>
      <p:sp>
        <p:nvSpPr>
          <p:cNvPr id="100063" name="F4Body"/>
          <p:cNvSpPr txBox="1"/>
          <p:nvPr/>
        </p:nvSpPr>
        <p:spPr>
          <a:xfrm xmlns:a="http://schemas.openxmlformats.org/drawingml/2006/main">
            <a:off x="720000" y="4392000"/>
            <a:ext cx="1008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• Temperature (°C)  •  Rainfall (mm)  •  Visibility (km)  •  Is Weekend</a:t>
            </a:r>
          </a:p>
        </p:txBody>
      </p:sp>
      <p:sp>
        <p:nvSpPr>
          <p:cNvPr id="100064" name="Footer"/>
          <p:cNvSpPr txBox="1"/>
          <p:nvPr/>
        </p:nvSpPr>
        <p:spPr>
          <a:xfrm xmlns:a="http://schemas.openxmlformats.org/drawingml/2006/main">
            <a:off x="0" y="6660000"/>
            <a:ext cx="12193200" cy="2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2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FFFFFF"/>
                </a:solidFill>
                <a:latin typeface="Calibri"/>
                <a:ea typeface="Calibri"/>
              </a:rPr>
              <a:t>Smart Urban Traffic Forecasting System  |  SDG 11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E2A"/>
        </a:solidFill>
      </p:bgPr>
    </p:bg>
    <p:spTree>
      <p:nvGrpSpPr>
        <p:cNvPr id="1" name=""/>
        <p:cNvGrpSpPr/>
        <p:nvPr/>
      </p:nvGrpSpPr>
      <p:grpSpPr/>
      <p:sp>
        <p:nvSpPr>
          <p:cNvPr id="100065" name="TopBar"/>
          <p:cNvSpPr txBox="1"/>
          <p:nvPr/>
        </p:nvSpPr>
        <p:spPr>
          <a:xfrm xmlns:a="http://schemas.openxmlformats.org/drawingml/2006/main">
            <a:off x="0" y="0"/>
            <a:ext cx="121932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66" name="Title"/>
          <p:cNvSpPr txBox="1"/>
          <p:nvPr/>
        </p:nvSpPr>
        <p:spPr>
          <a:xfrm xmlns:a="http://schemas.openxmlformats.org/drawingml/2006/main">
            <a:off x="540000" y="360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Model Architecture &amp; Results</a:t>
            </a:r>
          </a:p>
        </p:txBody>
      </p:sp>
      <p:sp>
        <p:nvSpPr>
          <p:cNvPr id="100067" name="Divider"/>
          <p:cNvSpPr txBox="1"/>
          <p:nvPr/>
        </p:nvSpPr>
        <p:spPr>
          <a:xfrm xmlns:a="http://schemas.openxmlformats.org/drawingml/2006/main">
            <a:off x="540000" y="972000"/>
            <a:ext cx="1800000" cy="5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68" name="RF"/>
          <p:cNvSpPr txBox="1"/>
          <p:nvPr/>
        </p:nvSpPr>
        <p:spPr>
          <a:xfrm xmlns:a="http://schemas.openxmlformats.org/drawingml/2006/main">
            <a:off x="540000" y="1152000"/>
            <a:ext cx="3420000" cy="32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A6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>🌲 RANDOM FOREST</a:t>
            </a:r>
          </a:p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>Type: Ensemble (200 trees)</a:t>
            </a:r>
          </a:p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>MAE: 135.39 vehicles/hr</a:t>
            </a:r>
          </a:p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>RMSE: 190.92 vehicles/hr</a:t>
            </a:r>
          </a:p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>R² Score: 0.9647</a:t>
            </a:r>
          </a:p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>Best for: Short-term tabular forecasting</a:t>
            </a:r>
          </a:p>
        </p:txBody>
      </p:sp>
      <p:sp>
        <p:nvSpPr>
          <p:cNvPr id="100069" name="XGB"/>
          <p:cNvSpPr txBox="1"/>
          <p:nvPr/>
        </p:nvSpPr>
        <p:spPr>
          <a:xfrm xmlns:a="http://schemas.openxmlformats.org/drawingml/2006/main">
            <a:off x="4320000" y="1152000"/>
            <a:ext cx="3420000" cy="32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⚡ XGBOOST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Type: Gradient Boosting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MAE: 134.30 vehicles/hr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RMSE: 184.60 vehicles/hr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R² Score: 0.9670 ✅ BEST</a:t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0A0E2A"/>
                </a:solidFill>
                <a:latin typeface="Calibri"/>
                <a:ea typeface="Calibri"/>
              </a:rPr>
              <a:t>Best for: Accurate tabular forecasting</a:t>
            </a:r>
          </a:p>
        </p:txBody>
      </p:sp>
      <p:sp>
        <p:nvSpPr>
          <p:cNvPr id="100070" name="LSTM"/>
          <p:cNvSpPr txBox="1"/>
          <p:nvPr/>
        </p:nvSpPr>
        <p:spPr>
          <a:xfrm xmlns:a="http://schemas.openxmlformats.org/drawingml/2006/main">
            <a:off x="8100000" y="1152000"/>
            <a:ext cx="3420000" cy="32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A6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>🧠 LSTM NEURAL NET</a:t>
            </a:r>
          </a:p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>Type: Stacked LSTM (128→64)</a:t>
            </a:r>
          </a:p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>Input: 24-hour sequences</a:t>
            </a:r>
          </a:p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>Layers: BatchNorm + Dropout</a:t>
            </a:r>
          </a:p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>Callbacks: EarlyStopping</a:t>
            </a:r>
          </a:p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FFFFFF"/>
                </a:solidFill>
                <a:latin typeface="Calibri"/>
                <a:ea typeface="Calibri"/>
              </a:rPr>
              <a:t>Best for: Long-term sequential patterns</a:t>
            </a:r>
          </a:p>
        </p:txBody>
      </p:sp>
      <p:sp>
        <p:nvSpPr>
          <p:cNvPr id="100071" name="BestTag"/>
          <p:cNvSpPr txBox="1"/>
          <p:nvPr/>
        </p:nvSpPr>
        <p:spPr>
          <a:xfrm xmlns:a="http://schemas.openxmlformats.org/drawingml/2006/main">
            <a:off x="2880000" y="4680000"/>
            <a:ext cx="6120000" cy="4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A0E2A"/>
                </a:solidFill>
                <a:latin typeface="Calibri"/>
                <a:ea typeface="Calibri"/>
              </a:rPr>
              <a:t>🏆 Best Model: XGBoost — R² = 0.9670</a:t>
            </a:r>
          </a:p>
        </p:txBody>
      </p:sp>
      <p:sp>
        <p:nvSpPr>
          <p:cNvPr id="100072" name="Footer"/>
          <p:cNvSpPr txBox="1"/>
          <p:nvPr/>
        </p:nvSpPr>
        <p:spPr>
          <a:xfrm xmlns:a="http://schemas.openxmlformats.org/drawingml/2006/main">
            <a:off x="0" y="6660000"/>
            <a:ext cx="12193200" cy="2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FFFFFF"/>
                </a:solidFill>
                <a:latin typeface="Calibri"/>
                <a:ea typeface="Calibri"/>
              </a:rPr>
              <a:t>Smart Urban Traffic Forecasting System  |  SDG 11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73" name="TopBar"/>
          <p:cNvSpPr txBox="1"/>
          <p:nvPr/>
        </p:nvSpPr>
        <p:spPr>
          <a:xfrm xmlns:a="http://schemas.openxmlformats.org/drawingml/2006/main">
            <a:off x="0" y="0"/>
            <a:ext cx="121932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74" name="Title"/>
          <p:cNvSpPr txBox="1"/>
          <p:nvPr/>
        </p:nvSpPr>
        <p:spPr>
          <a:xfrm xmlns:a="http://schemas.openxmlformats.org/drawingml/2006/main">
            <a:off x="540000" y="360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0A0E2A"/>
                </a:solidFill>
                <a:latin typeface="Calibri"/>
                <a:ea typeface="Calibri"/>
              </a:rPr>
              <a:t>Live Streamlit Dashboard — UI Preview</a:t>
            </a:r>
          </a:p>
        </p:txBody>
      </p:sp>
      <p:sp>
        <p:nvSpPr>
          <p:cNvPr id="100075" name="Divider"/>
          <p:cNvSpPr txBox="1"/>
          <p:nvPr/>
        </p:nvSpPr>
        <p:spPr>
          <a:xfrm xmlns:a="http://schemas.openxmlformats.org/drawingml/2006/main">
            <a:off x="540000" y="972000"/>
            <a:ext cx="1800000" cy="5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76" name="Sidebar"/>
          <p:cNvSpPr txBox="1"/>
          <p:nvPr/>
        </p:nvSpPr>
        <p:spPr>
          <a:xfrm xmlns:a="http://schemas.openxmlformats.org/drawingml/2006/main">
            <a:off x="360000" y="1152000"/>
            <a:ext cx="2160000" cy="36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FFFFFF"/>
                </a:solidFill>
                <a:latin typeface="Calibri"/>
                <a:ea typeface="Calibri"/>
              </a:rPr>
              <a:t>⚙️ SIDEBAR</a:t>
            </a:r>
          </a:p>
          <a:p xmlns:a="http://schemas.openxmlformats.org/drawingml/2006/main">
            <a:r>
              <a:rPr lang="en-US" sz="1300" b="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FFFFFF"/>
                </a:solidFill>
                <a:latin typeface="Calibri"/>
                <a:ea typeface="Calibri"/>
              </a:rPr>
              <a:t>📍 Select Segment</a:t>
            </a:r>
          </a:p>
          <a:p xmlns:a="http://schemas.openxmlformats.org/drawingml/2006/main">
            <a:r>
              <a:rPr lang="en-US" sz="1300" b="0">
                <a:solidFill>
                  <a:srgbClr val="FFFFFF"/>
                </a:solidFill>
                <a:latin typeface="Calibri"/>
                <a:ea typeface="Calibri"/>
              </a:rPr>
              <a:t>[Segment 1 ▼]</a:t>
            </a:r>
          </a:p>
          <a:p xmlns:a="http://schemas.openxmlformats.org/drawingml/2006/main">
            <a:r>
              <a:rPr lang="en-US" sz="1300" b="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FFFFFF"/>
                </a:solidFill>
                <a:latin typeface="Calibri"/>
                <a:ea typeface="Calibri"/>
              </a:rPr>
              <a:t>🔮 Forecast Horizon</a:t>
            </a:r>
          </a:p>
          <a:p xmlns:a="http://schemas.openxmlformats.org/drawingml/2006/main">
            <a:r>
              <a:rPr lang="en-US" sz="1300" b="0">
                <a:solidFill>
                  <a:srgbClr val="FFFFFF"/>
                </a:solidFill>
                <a:latin typeface="Calibri"/>
                <a:ea typeface="Calibri"/>
              </a:rPr>
              <a:t>[2 hours ▼]</a:t>
            </a:r>
          </a:p>
          <a:p xmlns:a="http://schemas.openxmlformats.org/drawingml/2006/main">
            <a:r>
              <a:rPr lang="en-US" sz="1300" b="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FFFFFF"/>
                </a:solidFill>
                <a:latin typeface="Calibri"/>
                <a:ea typeface="Calibri"/>
              </a:rPr>
              <a:t>🤖 Select Model</a:t>
            </a:r>
          </a:p>
          <a:p xmlns:a="http://schemas.openxmlformats.org/drawingml/2006/main">
            <a:r>
              <a:rPr lang="en-US" sz="1300" b="0">
                <a:solidFill>
                  <a:srgbClr val="FFFFFF"/>
                </a:solidFill>
                <a:latin typeface="Calibri"/>
                <a:ea typeface="Calibri"/>
              </a:rPr>
              <a:t>[XGBoost ▼]</a:t>
            </a:r>
          </a:p>
          <a:p xmlns:a="http://schemas.openxmlformats.org/drawingml/2006/main">
            <a:r>
              <a:rPr lang="en-US" sz="1300" b="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FFFFFF"/>
                </a:solidFill>
                <a:latin typeface="Calibri"/>
                <a:ea typeface="Calibri"/>
              </a:rPr>
              <a:t>[🚀 Run Forecast]</a:t>
            </a:r>
          </a:p>
        </p:txBody>
      </p:sp>
      <p:sp>
        <p:nvSpPr>
          <p:cNvPr id="100077" name="KPI1"/>
          <p:cNvSpPr txBox="1"/>
          <p:nvPr/>
        </p:nvSpPr>
        <p:spPr>
          <a:xfrm xmlns:a="http://schemas.openxmlformats.org/drawingml/2006/main">
            <a:off x="2880000" y="1152000"/>
            <a:ext cx="1980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2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🚗 Volume</a:t>
            </a:r>
          </a:p>
          <a:p xmlns:a="http://schemas.openxmlformats.org/drawingml/2006/main"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1,245</a:t>
            </a:r>
          </a:p>
          <a:p xmlns:a="http://schemas.openxmlformats.org/drawingml/2006/main"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vehicles/hr</a:t>
            </a:r>
          </a:p>
        </p:txBody>
      </p:sp>
      <p:sp>
        <p:nvSpPr>
          <p:cNvPr id="100078" name="KPI2"/>
          <p:cNvSpPr txBox="1"/>
          <p:nvPr/>
        </p:nvSpPr>
        <p:spPr>
          <a:xfrm xmlns:a="http://schemas.openxmlformats.org/drawingml/2006/main">
            <a:off x="5112000" y="1152000"/>
            <a:ext cx="1980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A6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⚡ Speed</a:t>
            </a:r>
          </a:p>
          <a:p xmlns:a="http://schemas.openxmlformats.org/drawingml/2006/main"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38.5 km/h</a:t>
            </a:r>
          </a:p>
        </p:txBody>
      </p:sp>
      <p:sp>
        <p:nvSpPr>
          <p:cNvPr id="100079" name="KPI3"/>
          <p:cNvSpPr txBox="1"/>
          <p:nvPr/>
        </p:nvSpPr>
        <p:spPr>
          <a:xfrm xmlns:a="http://schemas.openxmlformats.org/drawingml/2006/main">
            <a:off x="7344000" y="1152000"/>
            <a:ext cx="1980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0A0E2A"/>
                </a:solidFill>
                <a:latin typeface="Calibri"/>
                <a:ea typeface="Calibri"/>
              </a:rPr>
              <a:t>🌧️ Rain</a:t>
            </a:r>
          </a:p>
          <a:p xmlns:a="http://schemas.openxmlformats.org/drawingml/2006/main">
            <a:r>
              <a:rPr lang="en-US" sz="1500" b="0">
                <a:solidFill>
                  <a:srgbClr val="0A0E2A"/>
                </a:solidFill>
                <a:latin typeface="Calibri"/>
                <a:ea typeface="Calibri"/>
              </a:rPr>
              <a:t>2.1 mm</a:t>
            </a:r>
          </a:p>
        </p:txBody>
      </p:sp>
      <p:sp>
        <p:nvSpPr>
          <p:cNvPr id="100080" name="KPI4"/>
          <p:cNvSpPr txBox="1"/>
          <p:nvPr/>
        </p:nvSpPr>
        <p:spPr>
          <a:xfrm xmlns:a="http://schemas.openxmlformats.org/drawingml/2006/main">
            <a:off x="9576000" y="1152000"/>
            <a:ext cx="1980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392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FFFFF"/>
                </a:solidFill>
                <a:latin typeface="Calibri"/>
                <a:ea typeface="Calibri"/>
              </a:rPr>
              <a:t>🔴 HIGH</a:t>
            </a:r>
          </a:p>
          <a:p xmlns:a="http://schemas.openxmlformats.org/drawingml/2006/main">
            <a:r>
              <a:rPr lang="en-US" sz="1500" b="1">
                <a:solidFill>
                  <a:srgbClr val="FFFFFF"/>
                </a:solidFill>
                <a:latin typeface="Calibri"/>
                <a:ea typeface="Calibri"/>
              </a:rPr>
              <a:t>Congestion</a:t>
            </a:r>
          </a:p>
        </p:txBody>
      </p:sp>
      <p:sp>
        <p:nvSpPr>
          <p:cNvPr id="100081" name="ForecastBar"/>
          <p:cNvSpPr txBox="1"/>
          <p:nvPr/>
        </p:nvSpPr>
        <p:spPr>
          <a:xfrm xmlns:a="http://schemas.openxmlformats.org/drawingml/2006/main">
            <a:off x="2880000" y="2520000"/>
            <a:ext cx="8640000" cy="4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2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📊 FORECAST  |  +1hr: 1310 🔴  |  +2hr: 1280 🔴  |  +3hr: 1190 🟡  |  +4hr: 1050 🟢</a:t>
            </a:r>
          </a:p>
        </p:txBody>
      </p:sp>
      <p:sp>
        <p:nvSpPr>
          <p:cNvPr id="100082" name="Chart"/>
          <p:cNvSpPr txBox="1"/>
          <p:nvPr/>
        </p:nvSpPr>
        <p:spPr>
          <a:xfrm xmlns:a="http://schemas.openxmlformats.org/drawingml/2006/main">
            <a:off x="2880000" y="3060000"/>
            <a:ext cx="8640000" cy="172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222222"/>
                </a:solidFill>
                <a:latin typeface="Calibri"/>
                <a:ea typeface="Calibri"/>
              </a:rPr>
              <a:t>📈 7-Day Traffic Trend Chart</a:t>
            </a:r>
          </a:p>
          <a:p xmlns:a="http://schemas.openxmlformats.org/drawingml/2006/main">
            <a:r>
              <a:rPr lang="en-US" sz="1400" b="0">
                <a:solidFill>
                  <a:srgbClr val="222222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400" b="0">
                <a:solidFill>
                  <a:srgbClr val="222222"/>
                </a:solidFill>
                <a:latin typeface="Calibri"/>
                <a:ea typeface="Calibri"/>
              </a:rPr>
              <a:t>[Bar chart showing hourly peaks — Mon-Sun]</a:t>
            </a:r>
          </a:p>
          <a:p xmlns:a="http://schemas.openxmlformats.org/drawingml/2006/main">
            <a:r>
              <a:rPr lang="en-US" sz="1400" b="0">
                <a:solidFill>
                  <a:srgbClr val="222222"/>
                </a:solidFill>
                <a:latin typeface="Calibri"/>
                <a:ea typeface="Calibri"/>
              </a:rPr>
              <a:t>Peak hours highlighted in red (8-10am, 5-7pm)</a:t>
            </a:r>
          </a:p>
          <a:p xmlns:a="http://schemas.openxmlformats.org/drawingml/2006/main">
            <a:r>
              <a:rPr lang="en-US" sz="1400" b="0">
                <a:solidFill>
                  <a:srgbClr val="222222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400" b="0">
                <a:solidFill>
                  <a:srgbClr val="222222"/>
                </a:solidFill>
                <a:latin typeface="Calibri"/>
                <a:ea typeface="Calibri"/>
              </a:rPr>
              <a:t>🗺️ Folium Heatmap: 10 road segments with live congestion intensity</a:t>
            </a:r>
          </a:p>
        </p:txBody>
      </p:sp>
      <p:sp>
        <p:nvSpPr>
          <p:cNvPr id="100083" name="RunURL"/>
          <p:cNvSpPr txBox="1"/>
          <p:nvPr/>
        </p:nvSpPr>
        <p:spPr>
          <a:xfrm xmlns:a="http://schemas.openxmlformats.org/drawingml/2006/main">
            <a:off x="540000" y="5040000"/>
            <a:ext cx="10440000" cy="3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A6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▶  streamlit run app.py  →  localhost:8501</a:t>
            </a:r>
          </a:p>
        </p:txBody>
      </p:sp>
      <p:sp>
        <p:nvSpPr>
          <p:cNvPr id="100084" name="Footer"/>
          <p:cNvSpPr txBox="1"/>
          <p:nvPr/>
        </p:nvSpPr>
        <p:spPr>
          <a:xfrm xmlns:a="http://schemas.openxmlformats.org/drawingml/2006/main">
            <a:off x="0" y="6660000"/>
            <a:ext cx="12193200" cy="2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2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FFFFFF"/>
                </a:solidFill>
                <a:latin typeface="Calibri"/>
                <a:ea typeface="Calibri"/>
              </a:rPr>
              <a:t>Smart Urban Traffic Forecasting System  |  SDG 11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E2A"/>
        </a:solidFill>
      </p:bgPr>
    </p:bg>
    <p:spTree>
      <p:nvGrpSpPr>
        <p:cNvPr id="1" name=""/>
        <p:cNvGrpSpPr/>
        <p:nvPr/>
      </p:nvGrpSpPr>
      <p:grpSpPr/>
      <p:sp>
        <p:nvSpPr>
          <p:cNvPr id="100085" name="TopBar"/>
          <p:cNvSpPr txBox="1"/>
          <p:nvPr/>
        </p:nvSpPr>
        <p:spPr>
          <a:xfrm xmlns:a="http://schemas.openxmlformats.org/drawingml/2006/main">
            <a:off x="0" y="0"/>
            <a:ext cx="121932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86" name="Title"/>
          <p:cNvSpPr txBox="1"/>
          <p:nvPr/>
        </p:nvSpPr>
        <p:spPr>
          <a:xfrm xmlns:a="http://schemas.openxmlformats.org/drawingml/2006/main">
            <a:off x="540000" y="360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Streamlit Dashboard Features</a:t>
            </a:r>
          </a:p>
        </p:txBody>
      </p:sp>
      <p:sp>
        <p:nvSpPr>
          <p:cNvPr id="100087" name="Divider"/>
          <p:cNvSpPr txBox="1"/>
          <p:nvPr/>
        </p:nvSpPr>
        <p:spPr>
          <a:xfrm xmlns:a="http://schemas.openxmlformats.org/drawingml/2006/main">
            <a:off x="540000" y="972000"/>
            <a:ext cx="1800000" cy="5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88" name="C1"/>
          <p:cNvSpPr txBox="1"/>
          <p:nvPr/>
        </p:nvSpPr>
        <p:spPr>
          <a:xfrm xmlns:a="http://schemas.openxmlformats.org/drawingml/2006/main">
            <a:off x="540000" y="1152000"/>
            <a:ext cx="252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A6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📊 REAL-TIME KPIs</a:t>
            </a:r>
          </a:p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• Current vehicle volume</a:t>
            </a:r>
          </a:p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• Average speed (km/h)</a:t>
            </a:r>
          </a:p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• Rainfall (mm)</a:t>
            </a:r>
          </a:p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• Congestion severity badge</a:t>
            </a:r>
          </a:p>
        </p:txBody>
      </p:sp>
      <p:sp>
        <p:nvSpPr>
          <p:cNvPr id="100089" name="C2"/>
          <p:cNvSpPr txBox="1"/>
          <p:nvPr/>
        </p:nvSpPr>
        <p:spPr>
          <a:xfrm xmlns:a="http://schemas.openxmlformats.org/drawingml/2006/main">
            <a:off x="3420000" y="1152000"/>
            <a:ext cx="252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>🔮 FORECAST CARDS</a:t>
            </a:r>
          </a:p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>• +1h, +2h, +3h, +4h predictions</a:t>
            </a:r>
          </a:p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>• Colour-coded severity alerts</a:t>
            </a:r>
          </a:p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>• Bar chart visualization</a:t>
            </a:r>
          </a:p>
        </p:txBody>
      </p:sp>
      <p:sp>
        <p:nvSpPr>
          <p:cNvPr id="100090" name="C3"/>
          <p:cNvSpPr txBox="1"/>
          <p:nvPr/>
        </p:nvSpPr>
        <p:spPr>
          <a:xfrm xmlns:a="http://schemas.openxmlformats.org/drawingml/2006/main">
            <a:off x="6300000" y="1152000"/>
            <a:ext cx="252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A6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📈 TREND ANALYSIS</a:t>
            </a:r>
          </a:p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• Last 7-day traffic trend</a:t>
            </a:r>
          </a:p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• Hourly traffic profile</a:t>
            </a:r>
          </a:p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• Peak hour detection (red bars)</a:t>
            </a:r>
          </a:p>
        </p:txBody>
      </p:sp>
      <p:sp>
        <p:nvSpPr>
          <p:cNvPr id="100091" name="C4"/>
          <p:cNvSpPr txBox="1"/>
          <p:nvPr/>
        </p:nvSpPr>
        <p:spPr>
          <a:xfrm xmlns:a="http://schemas.openxmlformats.org/drawingml/2006/main">
            <a:off x="540000" y="3600000"/>
            <a:ext cx="2520000" cy="18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>🗺️ CONGESTION HEATMAP</a:t>
            </a:r>
          </a:p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>• Interactive Folium map</a:t>
            </a:r>
          </a:p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>• All 10 road segments</a:t>
            </a:r>
          </a:p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>• Live volume intensity</a:t>
            </a:r>
          </a:p>
        </p:txBody>
      </p:sp>
      <p:sp>
        <p:nvSpPr>
          <p:cNvPr id="100092" name="C5"/>
          <p:cNvSpPr txBox="1"/>
          <p:nvPr/>
        </p:nvSpPr>
        <p:spPr>
          <a:xfrm xmlns:a="http://schemas.openxmlformats.org/drawingml/2006/main">
            <a:off x="3420000" y="3600000"/>
            <a:ext cx="2520000" cy="18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A6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🔀 RE-ROUTING ALERTS</a:t>
            </a:r>
          </a:p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• Automated recommendations</a:t>
            </a:r>
          </a:p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• Low / Medium / High actions</a:t>
            </a:r>
          </a:p>
          <a:p xmlns:a="http://schemas.openxmlformats.org/drawingml/2006/main"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• Municipal authority alerts</a:t>
            </a:r>
          </a:p>
        </p:txBody>
      </p:sp>
      <p:sp>
        <p:nvSpPr>
          <p:cNvPr id="100093" name="C6"/>
          <p:cNvSpPr txBox="1"/>
          <p:nvPr/>
        </p:nvSpPr>
        <p:spPr>
          <a:xfrm xmlns:a="http://schemas.openxmlformats.org/drawingml/2006/main">
            <a:off x="6300000" y="3600000"/>
            <a:ext cx="2520000" cy="18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>🏆 FEATURE IMPORTANCE</a:t>
            </a:r>
          </a:p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>• XGBoost feature ranking</a:t>
            </a:r>
          </a:p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>• Top predictors visualized</a:t>
            </a:r>
          </a:p>
          <a:p xmlns:a="http://schemas.openxmlformats.org/drawingml/2006/main">
            <a:r>
              <a:rPr lang="en-US" sz="1400">
                <a:solidFill>
                  <a:srgbClr val="0A0E2A"/>
                </a:solidFill>
                <a:latin typeface="Calibri"/>
                <a:ea typeface="Calibri"/>
              </a:rPr>
              <a:t>• Model explainability chart</a:t>
            </a:r>
          </a:p>
        </p:txBody>
      </p:sp>
      <p:sp>
        <p:nvSpPr>
          <p:cNvPr id="100094" name="Footer"/>
          <p:cNvSpPr txBox="1"/>
          <p:nvPr/>
        </p:nvSpPr>
        <p:spPr>
          <a:xfrm xmlns:a="http://schemas.openxmlformats.org/drawingml/2006/main">
            <a:off x="0" y="6660000"/>
            <a:ext cx="12193200" cy="2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FFFFFF"/>
                </a:solidFill>
                <a:latin typeface="Calibri"/>
                <a:ea typeface="Calibri"/>
              </a:rPr>
              <a:t>Smart Urban Traffic Forecasting System  |  SDG 11</a:t>
            </a:r>
          </a:p>
        </p:txBody>
      </p:sp>
    </p:spTree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95" name="TopBar"/>
          <p:cNvSpPr txBox="1"/>
          <p:nvPr/>
        </p:nvSpPr>
        <p:spPr>
          <a:xfrm xmlns:a="http://schemas.openxmlformats.org/drawingml/2006/main">
            <a:off x="0" y="0"/>
            <a:ext cx="121932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096" name="Title"/>
          <p:cNvSpPr txBox="1"/>
          <p:nvPr/>
        </p:nvSpPr>
        <p:spPr>
          <a:xfrm xmlns:a="http://schemas.openxmlformats.org/drawingml/2006/main">
            <a:off x="540000" y="360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0A0E2A"/>
                </a:solidFill>
                <a:latin typeface="Calibri"/>
                <a:ea typeface="Calibri"/>
              </a:rPr>
              <a:t>SDG 11 Impact</a:t>
            </a:r>
          </a:p>
        </p:txBody>
      </p:sp>
      <p:sp>
        <p:nvSpPr>
          <p:cNvPr id="100097" name="SDGBadge"/>
          <p:cNvSpPr txBox="1"/>
          <p:nvPr/>
        </p:nvSpPr>
        <p:spPr>
          <a:xfrm xmlns:a="http://schemas.openxmlformats.org/drawingml/2006/main">
            <a:off x="540000" y="1008000"/>
            <a:ext cx="10440000" cy="39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6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FFFFFF"/>
                </a:solidFill>
                <a:latin typeface="Calibri"/>
                <a:ea typeface="Calibri"/>
              </a:rPr>
              <a:t>🏙️ SDG 11 — Sustainable Cities &amp; Communities</a:t>
            </a:r>
          </a:p>
        </p:txBody>
      </p:sp>
      <p:sp>
        <p:nvSpPr>
          <p:cNvPr id="100098" name="T1Label"/>
          <p:cNvSpPr txBox="1"/>
          <p:nvPr/>
        </p:nvSpPr>
        <p:spPr>
          <a:xfrm xmlns:a="http://schemas.openxmlformats.org/drawingml/2006/main">
            <a:off x="540000" y="1584000"/>
            <a:ext cx="1044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1">
                <a:solidFill>
                  <a:srgbClr val="0A0E2A"/>
                </a:solidFill>
                <a:latin typeface="Calibri"/>
                <a:ea typeface="Calibri"/>
              </a:rPr>
              <a:t>🎯 Target 11.2 — Transport Systems</a:t>
            </a:r>
          </a:p>
        </p:txBody>
      </p:sp>
      <p:sp>
        <p:nvSpPr>
          <p:cNvPr id="100099" name="T1Body"/>
          <p:cNvSpPr txBox="1"/>
          <p:nvPr/>
        </p:nvSpPr>
        <p:spPr>
          <a:xfrm xmlns:a="http://schemas.openxmlformats.org/drawingml/2006/main">
            <a:off x="720000" y="1908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333333"/>
                </a:solidFill>
                <a:latin typeface="Calibri"/>
                <a:ea typeface="Calibri"/>
              </a:rPr>
              <a:t>Provides 2-4 hour advance congestion warnings enabling proactive traffic signal control, route diversions and resource pre-positioning for municipal authorities.</a:t>
            </a:r>
          </a:p>
        </p:txBody>
      </p:sp>
      <p:sp>
        <p:nvSpPr>
          <p:cNvPr id="100100" name="T2Label"/>
          <p:cNvSpPr txBox="1"/>
          <p:nvPr/>
        </p:nvSpPr>
        <p:spPr>
          <a:xfrm xmlns:a="http://schemas.openxmlformats.org/drawingml/2006/main">
            <a:off x="540000" y="2628000"/>
            <a:ext cx="1044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1">
                <a:solidFill>
                  <a:srgbClr val="0A0E2A"/>
                </a:solidFill>
                <a:latin typeface="Calibri"/>
                <a:ea typeface="Calibri"/>
              </a:rPr>
              <a:t>🌍 Target 11.6 — Air Quality &amp; Environment</a:t>
            </a:r>
          </a:p>
        </p:txBody>
      </p:sp>
      <p:sp>
        <p:nvSpPr>
          <p:cNvPr id="100101" name="T2Body"/>
          <p:cNvSpPr txBox="1"/>
          <p:nvPr/>
        </p:nvSpPr>
        <p:spPr>
          <a:xfrm xmlns:a="http://schemas.openxmlformats.org/drawingml/2006/main">
            <a:off x="720000" y="2952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333333"/>
                </a:solidFill>
                <a:latin typeface="Calibri"/>
                <a:ea typeface="Calibri"/>
              </a:rPr>
              <a:t>Reduces vehicle idling time at congestion hotspots, directly lowering localized CO₂, NOx and particulate matter emissions from urban traffic.</a:t>
            </a:r>
          </a:p>
        </p:txBody>
      </p:sp>
      <p:sp>
        <p:nvSpPr>
          <p:cNvPr id="100102" name="T3Label"/>
          <p:cNvSpPr txBox="1"/>
          <p:nvPr/>
        </p:nvSpPr>
        <p:spPr>
          <a:xfrm xmlns:a="http://schemas.openxmlformats.org/drawingml/2006/main">
            <a:off x="540000" y="3672000"/>
            <a:ext cx="1044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1">
                <a:solidFill>
                  <a:srgbClr val="0A0E2A"/>
                </a:solidFill>
                <a:latin typeface="Calibri"/>
                <a:ea typeface="Calibri"/>
              </a:rPr>
              <a:t>🏛️ Target 11.b — Resilient &amp; Sustainable Cities</a:t>
            </a:r>
          </a:p>
        </p:txBody>
      </p:sp>
      <p:sp>
        <p:nvSpPr>
          <p:cNvPr id="100103" name="T3Body"/>
          <p:cNvSpPr txBox="1"/>
          <p:nvPr/>
        </p:nvSpPr>
        <p:spPr>
          <a:xfrm xmlns:a="http://schemas.openxmlformats.org/drawingml/2006/main">
            <a:off x="720000" y="3996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333333"/>
                </a:solidFill>
                <a:latin typeface="Calibri"/>
                <a:ea typeface="Calibri"/>
              </a:rPr>
              <a:t>Supports data-driven urban policy-making, helping cities build adaptive, intelligent transport infrastructure aligned with sustainability goals.</a:t>
            </a:r>
          </a:p>
        </p:txBody>
      </p:sp>
      <p:sp>
        <p:nvSpPr>
          <p:cNvPr id="100104" name="Footer"/>
          <p:cNvSpPr txBox="1"/>
          <p:nvPr/>
        </p:nvSpPr>
        <p:spPr>
          <a:xfrm xmlns:a="http://schemas.openxmlformats.org/drawingml/2006/main">
            <a:off x="0" y="6660000"/>
            <a:ext cx="12193200" cy="2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2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FFFFFF"/>
                </a:solidFill>
                <a:latin typeface="Calibri"/>
                <a:ea typeface="Calibri"/>
              </a:rPr>
              <a:t>Smart Urban Traffic Forecasting System  |  SDG 11</a:t>
            </a:r>
          </a:p>
        </p:txBody>
      </p:sp>
    </p:spTree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E2A"/>
        </a:solidFill>
      </p:bgPr>
    </p:bg>
    <p:spTree>
      <p:nvGrpSpPr>
        <p:cNvPr id="1" name=""/>
        <p:cNvGrpSpPr/>
        <p:nvPr/>
      </p:nvGrpSpPr>
      <p:grpSpPr/>
      <p:sp>
        <p:nvSpPr>
          <p:cNvPr id="100105" name="TopBar"/>
          <p:cNvSpPr txBox="1"/>
          <p:nvPr/>
        </p:nvSpPr>
        <p:spPr>
          <a:xfrm xmlns:a="http://schemas.openxmlformats.org/drawingml/2006/main">
            <a:off x="0" y="0"/>
            <a:ext cx="121932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F5A623"/>
              </a:solidFill>
            </a:endParaRPr>
          </a:p>
        </p:txBody>
      </p:sp>
      <p:sp>
        <p:nvSpPr>
          <p:cNvPr id="100106" name="TY"/>
          <p:cNvSpPr txBox="1"/>
          <p:nvPr/>
        </p:nvSpPr>
        <p:spPr>
          <a:xfrm xmlns:a="http://schemas.openxmlformats.org/drawingml/2006/main">
            <a:off x="540000" y="900000"/>
            <a:ext cx="1080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F5A623"/>
                </a:solidFill>
                <a:latin typeface="Calibri"/>
                <a:ea typeface="Calibri"/>
              </a:rPr>
              <a:t>Thank You!</a:t>
            </a:r>
          </a:p>
        </p:txBody>
      </p:sp>
      <p:sp>
        <p:nvSpPr>
          <p:cNvPr id="100107" name="ProjectName"/>
          <p:cNvSpPr txBox="1"/>
          <p:nvPr/>
        </p:nvSpPr>
        <p:spPr>
          <a:xfrm xmlns:a="http://schemas.openxmlformats.org/drawingml/2006/main">
            <a:off x="540000" y="2088000"/>
            <a:ext cx="1080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0">
                <a:solidFill>
                  <a:srgbClr val="E0E8F0"/>
                </a:solidFill>
                <a:latin typeface="Calibri"/>
                <a:ea typeface="Calibri"/>
              </a:rPr>
              <a:t>Smart Urban Traffic Congestion &amp; Resource Demand Forecasting System</a:t>
            </a:r>
          </a:p>
        </p:txBody>
      </p:sp>
      <p:sp>
        <p:nvSpPr>
          <p:cNvPr id="100108" name="GitHub"/>
          <p:cNvSpPr txBox="1"/>
          <p:nvPr/>
        </p:nvSpPr>
        <p:spPr>
          <a:xfrm xmlns:a="http://schemas.openxmlformats.org/drawingml/2006/main">
            <a:off x="540000" y="288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A0C4E0"/>
                </a:solidFill>
                <a:latin typeface="Calibri"/>
                <a:ea typeface="Calibri"/>
              </a:rPr>
              <a:t>🔗 GitHub: github.com/mohinibuilds/smart-traffic-forecasting</a:t>
            </a:r>
          </a:p>
        </p:txBody>
      </p:sp>
      <p:sp>
        <p:nvSpPr>
          <p:cNvPr id="100109" name="Dev"/>
          <p:cNvSpPr txBox="1"/>
          <p:nvPr/>
        </p:nvSpPr>
        <p:spPr>
          <a:xfrm xmlns:a="http://schemas.openxmlformats.org/drawingml/2006/main">
            <a:off x="540000" y="342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A0C4E0"/>
                </a:solidFill>
                <a:latin typeface="Calibri"/>
                <a:ea typeface="Calibri"/>
              </a:rPr>
              <a:t>👩‍💻 Developer: Mohini  |  GitHub: @mohinibuilds</a:t>
            </a:r>
          </a:p>
        </p:txBody>
      </p:sp>
      <p:sp>
        <p:nvSpPr>
          <p:cNvPr id="100110" name="SDG"/>
          <p:cNvSpPr txBox="1"/>
          <p:nvPr/>
        </p:nvSpPr>
        <p:spPr>
          <a:xfrm xmlns:a="http://schemas.openxmlformats.org/drawingml/2006/main">
            <a:off x="540000" y="396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A0C4E0"/>
                </a:solidFill>
                <a:latin typeface="Calibri"/>
                <a:ea typeface="Calibri"/>
              </a:rPr>
              <a:t>🌍 SDG 11 — Sustainable Cities &amp; Communities</a:t>
            </a:r>
          </a:p>
        </p:txBody>
      </p:sp>
      <p:sp>
        <p:nvSpPr>
          <p:cNvPr id="100111" name="Results"/>
          <p:cNvSpPr txBox="1"/>
          <p:nvPr/>
        </p:nvSpPr>
        <p:spPr>
          <a:xfrm xmlns:a="http://schemas.openxmlformats.org/drawingml/2006/main">
            <a:off x="540000" y="450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F5A623"/>
                </a:solidFill>
                <a:latin typeface="Calibri"/>
                <a:ea typeface="Calibri"/>
              </a:rPr>
              <a:t>📊 XGBoost R²= 0.9670  |  Random Forest R²= 0.9647  |  LSTM Stacked (128→64)</a:t>
            </a:r>
          </a:p>
        </p:txBody>
      </p:sp>
      <p:sp>
        <p:nvSpPr>
          <p:cNvPr id="100112" name="BottomBar"/>
          <p:cNvSpPr txBox="1"/>
          <p:nvPr/>
        </p:nvSpPr>
        <p:spPr>
          <a:xfrm xmlns:a="http://schemas.openxmlformats.org/drawingml/2006/main">
            <a:off x="0" y="6660000"/>
            <a:ext cx="12193200" cy="2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1A2540"/>
              </a:solidFill>
            </a:endParaRP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2026-10-05T11:25:41Z</dcterms:created>
  <cp:lastModifiedBy>OfficeCLI</cp:lastModifiedBy>
  <dcterms:modified xsi:type="dcterms:W3CDTF">2026-10-05T11:25:41Z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1.0.154</vt:lpwstr>
  </op:property>
  <op:property fmtid="{D5CDD505-2E9C-101B-9397-08002B2CF9AE}" pid="3" name="OfficeCLI.LastModified">
    <vt:lpwstr xmlns:vt="http://schemas.openxmlformats.org/officeDocument/2006/docPropsVTypes">2026-10-05T11:30:38Z</vt:lpwstr>
  </op:property>
</op:Properties>
</file>